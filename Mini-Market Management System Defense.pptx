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2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</p:sldIdLst>
  <p:sldSz cx="12192000" cy="6858000"/>
  <p:notesSz cx="6858000" cy="9144000"/>
  <p:embeddedFontLst>
    <p:embeddedFont>
      <p:font typeface="DM Sans" pitchFamily="2" charset="0"/>
      <p:regular r:id="rId24"/>
      <p:bold r:id="rId25"/>
      <p:italic r:id="rId26"/>
      <p:boldItalic r:id="rId27"/>
    </p:embeddedFont>
    <p:embeddedFont>
      <p:font typeface="Inter" panose="020B0604020202020204" charset="0"/>
      <p:regular r:id="rId28"/>
      <p:bold r:id="rId29"/>
      <p:italic r:id="rId30"/>
      <p:boldItalic r:id="rId31"/>
    </p:embeddedFont>
    <p:embeddedFont>
      <p:font typeface="Merriweather" panose="00000500000000000000" pitchFamily="2" charset="0"/>
      <p:regular r:id="rId32"/>
      <p:bold r:id="rId33"/>
      <p:italic r:id="rId34"/>
      <p:boldItalic r:id="rId35"/>
    </p:embeddedFont>
    <p:embeddedFont>
      <p:font typeface="Merriweather Black" panose="00000A00000000000000" pitchFamily="2" charset="0"/>
      <p:bold r:id="rId36"/>
      <p:boldItalic r:id="rId37"/>
    </p:embeddedFont>
    <p:embeddedFont>
      <p:font typeface="Times" panose="02020603050405020304" pitchFamily="18" charset="0"/>
      <p:regular r:id="rId38"/>
      <p:bold r:id="rId39"/>
      <p:italic r:id="rId40"/>
      <p:boldItalic r:id="rId41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5" d="100"/>
          <a:sy n="105" d="100"/>
        </p:scale>
        <p:origin x="798" y="96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3.fntdata"/><Relationship Id="rId39" Type="http://schemas.openxmlformats.org/officeDocument/2006/relationships/font" Target="fonts/font16.fntdata"/><Relationship Id="rId21" Type="http://schemas.openxmlformats.org/officeDocument/2006/relationships/slide" Target="slides/slide20.xml"/><Relationship Id="rId34" Type="http://schemas.openxmlformats.org/officeDocument/2006/relationships/font" Target="fonts/font11.fntdata"/><Relationship Id="rId42" Type="http://schemas.openxmlformats.org/officeDocument/2006/relationships/presProps" Target="pres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font" Target="fonts/font6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1.fntdata"/><Relationship Id="rId32" Type="http://schemas.openxmlformats.org/officeDocument/2006/relationships/font" Target="fonts/font9.fntdata"/><Relationship Id="rId37" Type="http://schemas.openxmlformats.org/officeDocument/2006/relationships/font" Target="fonts/font14.fntdata"/><Relationship Id="rId40" Type="http://schemas.openxmlformats.org/officeDocument/2006/relationships/font" Target="fonts/font17.fntdata"/><Relationship Id="rId45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28" Type="http://schemas.openxmlformats.org/officeDocument/2006/relationships/font" Target="fonts/font5.fntdata"/><Relationship Id="rId36" Type="http://schemas.openxmlformats.org/officeDocument/2006/relationships/font" Target="fonts/font13.fnt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8.fntdata"/><Relationship Id="rId44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font" Target="fonts/font4.fntdata"/><Relationship Id="rId30" Type="http://schemas.openxmlformats.org/officeDocument/2006/relationships/font" Target="fonts/font7.fntdata"/><Relationship Id="rId35" Type="http://schemas.openxmlformats.org/officeDocument/2006/relationships/font" Target="fonts/font12.fntdata"/><Relationship Id="rId43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2.fntdata"/><Relationship Id="rId33" Type="http://schemas.openxmlformats.org/officeDocument/2006/relationships/font" Target="fonts/font10.fntdata"/><Relationship Id="rId38" Type="http://schemas.openxmlformats.org/officeDocument/2006/relationships/font" Target="fonts/font15.fntdata"/><Relationship Id="rId20" Type="http://schemas.openxmlformats.org/officeDocument/2006/relationships/slide" Target="slides/slide19.xml"/><Relationship Id="rId41" Type="http://schemas.openxmlformats.org/officeDocument/2006/relationships/font" Target="fonts/font18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3" name="Google Shape;93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g3dcc90fd297_0_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7" name="Google Shape;107;g3dcc90fd297_0_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6" name="Google Shape;126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2" name="Google Shape;142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9" name="Google Shape;169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6" name="Google Shape;186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3" name="Google Shape;203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4" name="Google Shape;214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p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5" name="Google Shape;225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p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6" name="Google Shape;236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p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7" name="Google Shape;247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p1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8" name="Google Shape;258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Google Shape;268;p1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9" name="Google Shape;269;p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Google Shape;281;p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2" name="Google Shape;282;p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" name="Google Shape;292;p1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3" name="Google Shape;293;p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" name="Google Shape;303;p1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4" name="Google Shape;304;p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4" name="Google Shape;314;p1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5" name="Google Shape;315;p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8" name="Google Shape;328;p1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9" name="Google Shape;329;p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0" name="Google Shape;340;p2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1" name="Google Shape;341;p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1" name="Google Shape;351;g3dcca805dab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52" name="Google Shape;352;g3dcca805dab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4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4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4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4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sz="4000" b="1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5"/>
          <p:cNvSpPr txBox="1"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5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5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5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6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6" name="Google Shape;36;p6"/>
          <p:cNvSpPr txBox="1">
            <a:spLocks noGrp="1"/>
          </p:cNvSpPr>
          <p:nvPr>
            <p:ph type="body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7" name="Google Shape;37;p6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6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6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7"/>
          <p:cNvSpPr txBox="1"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7"/>
          <p:cNvSpPr txBox="1">
            <a:spLocks noGrp="1"/>
          </p:cNvSpPr>
          <p:nvPr>
            <p:ph type="body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4" name="Google Shape;44;p7"/>
          <p:cNvSpPr txBox="1">
            <a:spLocks noGrp="1"/>
          </p:cNvSpPr>
          <p:nvPr>
            <p:ph type="body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5" name="Google Shape;45;p7"/>
          <p:cNvSpPr txBox="1">
            <a:spLocks noGrp="1"/>
          </p:cNvSpPr>
          <p:nvPr>
            <p:ph type="body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6" name="Google Shape;46;p7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7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7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8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8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8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9"/>
          <p:cNvSpPr txBox="1">
            <a:spLocks noGrp="1"/>
          </p:cNvSpPr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9"/>
          <p:cNvSpPr txBox="1"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58" name="Google Shape;58;p9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9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9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0"/>
          <p:cNvSpPr>
            <a:spLocks noGrp="1"/>
          </p:cNvSpPr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>
            <a:spLocks noGrp="1"/>
          </p:cNvSpPr>
          <p:nvPr>
            <p:ph type="body" idx="1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5" name="Google Shape;65;p10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0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0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1"/>
          <p:cNvSpPr txBox="1">
            <a:spLocks noGrp="1"/>
          </p:cNvSpPr>
          <p:nvPr>
            <p:ph type="body" idx="1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1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>
            <a:spLocks noGrp="1"/>
          </p:cNvSpPr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2"/>
          <p:cNvSpPr txBox="1">
            <a:spLocks noGrp="1"/>
          </p:cNvSpPr>
          <p:nvPr>
            <p:ph type="body" idx="1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1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7" Type="http://schemas.openxmlformats.org/officeDocument/2006/relationships/image" Target="../media/image10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0.png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7" Type="http://schemas.openxmlformats.org/officeDocument/2006/relationships/image" Target="../media/image2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4.png"/><Relationship Id="rId5" Type="http://schemas.openxmlformats.org/officeDocument/2006/relationships/image" Target="../media/image23.png"/><Relationship Id="rId4" Type="http://schemas.openxmlformats.org/officeDocument/2006/relationships/image" Target="../media/image22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3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9.png"/><Relationship Id="rId4" Type="http://schemas.openxmlformats.org/officeDocument/2006/relationships/image" Target="../media/image38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0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32B"/>
        </a:solidFill>
        <a:effectLst/>
      </p:bgPr>
    </p:bg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Google Shape;84;p13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95375" y="1337369"/>
            <a:ext cx="10001250" cy="3802112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3"/>
          <p:cNvSpPr txBox="1"/>
          <p:nvPr/>
        </p:nvSpPr>
        <p:spPr>
          <a:xfrm>
            <a:off x="11496675" y="238125"/>
            <a:ext cx="361950" cy="19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1 / 21</a:t>
            </a:r>
            <a:endParaRPr/>
          </a:p>
        </p:txBody>
      </p:sp>
      <p:sp>
        <p:nvSpPr>
          <p:cNvPr id="86" name="Google Shape;86;p13"/>
          <p:cNvSpPr txBox="1"/>
          <p:nvPr/>
        </p:nvSpPr>
        <p:spPr>
          <a:xfrm>
            <a:off x="1665446" y="1927919"/>
            <a:ext cx="8861107" cy="2513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1993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FFFFFF"/>
                </a:solidFill>
                <a:latin typeface="Merriweather"/>
                <a:ea typeface="Merriweather"/>
                <a:cs typeface="Merriweather"/>
                <a:sym typeface="Merriweather"/>
              </a:rPr>
              <a:t>Final Project Evaluation: PRF193</a:t>
            </a:r>
            <a:endParaRPr/>
          </a:p>
        </p:txBody>
      </p:sp>
      <p:sp>
        <p:nvSpPr>
          <p:cNvPr id="87" name="Google Shape;87;p13"/>
          <p:cNvSpPr/>
          <p:nvPr/>
        </p:nvSpPr>
        <p:spPr>
          <a:xfrm>
            <a:off x="5381625" y="2465040"/>
            <a:ext cx="1428750" cy="19050"/>
          </a:xfrm>
          <a:prstGeom prst="rect">
            <a:avLst/>
          </a:prstGeom>
          <a:solidFill>
            <a:srgbClr val="64FFD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" name="Google Shape;88;p13"/>
          <p:cNvSpPr txBox="1"/>
          <p:nvPr/>
        </p:nvSpPr>
        <p:spPr>
          <a:xfrm>
            <a:off x="1665446" y="2769840"/>
            <a:ext cx="8861107" cy="11885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900" b="0" i="0" u="none" strike="noStrike" cap="none">
                <a:solidFill>
                  <a:srgbClr val="FFFFFF"/>
                </a:solidFill>
                <a:latin typeface="Merriweather Black"/>
                <a:ea typeface="Merriweather Black"/>
                <a:cs typeface="Merriweather Black"/>
                <a:sym typeface="Merriweather Black"/>
              </a:rPr>
              <a:t>MINI-SUPERMARKET MANAGEMENT</a:t>
            </a:r>
            <a:endParaRPr/>
          </a:p>
        </p:txBody>
      </p:sp>
      <p:sp>
        <p:nvSpPr>
          <p:cNvPr id="89" name="Google Shape;89;p13"/>
          <p:cNvSpPr txBox="1"/>
          <p:nvPr/>
        </p:nvSpPr>
        <p:spPr>
          <a:xfrm>
            <a:off x="1876425" y="4148881"/>
            <a:ext cx="843915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64FFDA"/>
                </a:solidFill>
                <a:latin typeface="Inter"/>
                <a:ea typeface="Inter"/>
                <a:cs typeface="Inter"/>
                <a:sym typeface="Inter"/>
              </a:rPr>
              <a:t>An Advanced C++ Object-Oriented Application</a:t>
            </a:r>
            <a:endParaRPr/>
          </a:p>
        </p:txBody>
      </p:sp>
      <p:sp>
        <p:nvSpPr>
          <p:cNvPr id="90" name="Google Shape;90;p13"/>
          <p:cNvSpPr txBox="1"/>
          <p:nvPr/>
        </p:nvSpPr>
        <p:spPr>
          <a:xfrm>
            <a:off x="4596000" y="4496475"/>
            <a:ext cx="3000000" cy="6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lnSpc>
                <a:spcPct val="11993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50" b="1">
                <a:solidFill>
                  <a:schemeClr val="lt1"/>
                </a:solidFill>
                <a:latin typeface="Merriweather"/>
                <a:ea typeface="Merriweather"/>
                <a:cs typeface="Merriweather"/>
                <a:sym typeface="Merriweather"/>
              </a:rPr>
              <a:t>IC21A03</a:t>
            </a:r>
            <a:endParaRPr sz="1250" b="1">
              <a:solidFill>
                <a:schemeClr val="lt1"/>
              </a:solidFill>
              <a:latin typeface="Merriweather"/>
              <a:ea typeface="Merriweather"/>
              <a:cs typeface="Merriweather"/>
              <a:sym typeface="Merriweather"/>
            </a:endParaRPr>
          </a:p>
          <a:p>
            <a:pPr marL="0" lvl="0" indent="0" algn="ctr" rtl="0">
              <a:lnSpc>
                <a:spcPct val="119939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-US" sz="1250" b="1">
                <a:solidFill>
                  <a:schemeClr val="lt1"/>
                </a:solidFill>
                <a:latin typeface="Merriweather"/>
                <a:ea typeface="Merriweather"/>
                <a:cs typeface="Merriweather"/>
                <a:sym typeface="Merriweather"/>
              </a:rPr>
              <a:t> Group 6</a:t>
            </a:r>
            <a:endParaRPr sz="10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32B"/>
        </a:solidFill>
        <a:effectLst/>
      </p:bgPr>
    </p:bg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5" name="Google Shape;95;p14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286500" y="1626440"/>
            <a:ext cx="5334000" cy="3333750"/>
          </a:xfrm>
          <a:prstGeom prst="rect">
            <a:avLst/>
          </a:prstGeom>
          <a:noFill/>
          <a:ln>
            <a:noFill/>
          </a:ln>
        </p:spPr>
      </p:pic>
      <p:sp>
        <p:nvSpPr>
          <p:cNvPr id="96" name="Google Shape;96;p14"/>
          <p:cNvSpPr txBox="1"/>
          <p:nvPr/>
        </p:nvSpPr>
        <p:spPr>
          <a:xfrm>
            <a:off x="571500" y="381000"/>
            <a:ext cx="11601600" cy="39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550" b="1" i="0" u="none" strike="noStrike" cap="none">
                <a:solidFill>
                  <a:srgbClr val="FFFF00"/>
                </a:solidFill>
                <a:latin typeface="Merriweather"/>
                <a:ea typeface="Merriweather"/>
                <a:cs typeface="Merriweather"/>
                <a:sym typeface="Merriweather"/>
              </a:rPr>
              <a:t>1.</a:t>
            </a:r>
            <a:r>
              <a:rPr lang="en-US" sz="2550" b="1" i="0" u="none" strike="noStrike" cap="none">
                <a:solidFill>
                  <a:srgbClr val="FFFFFF"/>
                </a:solidFill>
                <a:latin typeface="Merriweather"/>
                <a:ea typeface="Merriweather"/>
                <a:cs typeface="Merriweather"/>
                <a:sym typeface="Merriweather"/>
              </a:rPr>
              <a:t> </a:t>
            </a:r>
            <a:r>
              <a:rPr lang="en-US" sz="2550" b="1" i="0" u="none" strike="noStrike" cap="none">
                <a:solidFill>
                  <a:srgbClr val="FFFF00"/>
                </a:solidFill>
                <a:latin typeface="Merriweather"/>
                <a:ea typeface="Merriweather"/>
                <a:cs typeface="Merriweather"/>
                <a:sym typeface="Merriweather"/>
              </a:rPr>
              <a:t>Project Repository</a:t>
            </a:r>
            <a:r>
              <a:rPr lang="en-US" sz="2550" b="1" i="0" u="none" strike="noStrike" cap="none">
                <a:solidFill>
                  <a:srgbClr val="FFFFFF"/>
                </a:solidFill>
                <a:latin typeface="Merriweather"/>
                <a:ea typeface="Merriweather"/>
                <a:cs typeface="Merriweather"/>
                <a:sym typeface="Merriweather"/>
              </a:rPr>
              <a:t> (GitHub)</a:t>
            </a:r>
            <a:endParaRPr/>
          </a:p>
        </p:txBody>
      </p:sp>
      <p:sp>
        <p:nvSpPr>
          <p:cNvPr id="97" name="Google Shape;97;p14"/>
          <p:cNvSpPr/>
          <p:nvPr/>
        </p:nvSpPr>
        <p:spPr>
          <a:xfrm>
            <a:off x="571500" y="864840"/>
            <a:ext cx="11049000" cy="19050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" name="Google Shape;98;p14"/>
          <p:cNvSpPr txBox="1"/>
          <p:nvPr/>
        </p:nvSpPr>
        <p:spPr>
          <a:xfrm>
            <a:off x="11468100" y="238125"/>
            <a:ext cx="390525" cy="19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2 / 21</a:t>
            </a:r>
            <a:endParaRPr/>
          </a:p>
        </p:txBody>
      </p:sp>
      <p:sp>
        <p:nvSpPr>
          <p:cNvPr id="99" name="Google Shape;99;p14"/>
          <p:cNvSpPr txBox="1"/>
          <p:nvPr/>
        </p:nvSpPr>
        <p:spPr>
          <a:xfrm>
            <a:off x="571500" y="1626440"/>
            <a:ext cx="5600700" cy="2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00025" tIns="0" rIns="0" bIns="0" anchor="t" anchorCtr="0">
            <a:spAutoFit/>
          </a:bodyPr>
          <a:lstStyle/>
          <a:p>
            <a:pPr marL="0" marR="0" lvl="0" indent="0" algn="l" rtl="0">
              <a:lnSpc>
                <a:spcPct val="11993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FFFFFF"/>
                </a:solidFill>
                <a:latin typeface="Merriweather"/>
                <a:ea typeface="Merriweather"/>
                <a:cs typeface="Merriweather"/>
                <a:sym typeface="Merriweather"/>
              </a:rPr>
              <a:t> Open Source Transparency</a:t>
            </a:r>
            <a:endParaRPr/>
          </a:p>
        </p:txBody>
      </p:sp>
      <p:sp>
        <p:nvSpPr>
          <p:cNvPr id="100" name="Google Shape;100;p14"/>
          <p:cNvSpPr txBox="1"/>
          <p:nvPr/>
        </p:nvSpPr>
        <p:spPr>
          <a:xfrm>
            <a:off x="571500" y="1973060"/>
            <a:ext cx="5334000" cy="51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92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75" b="0" i="0" u="none" strike="noStrike" cap="non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To ensure a transparent and professional development process, our entire codebase is tracked securely via Git.</a:t>
            </a:r>
            <a:endParaRPr/>
          </a:p>
        </p:txBody>
      </p:sp>
      <p:pic>
        <p:nvPicPr>
          <p:cNvPr id="101" name="Google Shape;101;p14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1645490"/>
            <a:ext cx="200025" cy="209550"/>
          </a:xfrm>
          <a:prstGeom prst="rect">
            <a:avLst/>
          </a:prstGeom>
          <a:noFill/>
          <a:ln>
            <a:noFill/>
          </a:ln>
        </p:spPr>
      </p:pic>
      <p:sp>
        <p:nvSpPr>
          <p:cNvPr id="102" name="Google Shape;102;p14"/>
          <p:cNvSpPr txBox="1"/>
          <p:nvPr/>
        </p:nvSpPr>
        <p:spPr>
          <a:xfrm>
            <a:off x="904875" y="3514982"/>
            <a:ext cx="5000700" cy="51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92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75" b="1" i="0" u="none" strike="noStrike" cap="non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Scan the QR Code</a:t>
            </a:r>
            <a:r>
              <a:rPr lang="en-US" sz="1275" b="0" i="0" u="none" strike="noStrike" cap="non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You can use your phone to scan the QR code on the right to access our GitHub Repository directly.</a:t>
            </a:r>
            <a:endParaRPr/>
          </a:p>
        </p:txBody>
      </p:sp>
      <p:pic>
        <p:nvPicPr>
          <p:cNvPr id="103" name="Google Shape;103;p14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71500" y="3590795"/>
            <a:ext cx="152400" cy="180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4" name="Google Shape;104;p14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6474613" y="1706475"/>
            <a:ext cx="4957775" cy="3173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9" name="Google Shape;109;p15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71500" y="2246775"/>
            <a:ext cx="2619375" cy="2659112"/>
          </a:xfrm>
          <a:prstGeom prst="rect">
            <a:avLst/>
          </a:prstGeom>
          <a:noFill/>
          <a:ln>
            <a:noFill/>
          </a:ln>
        </p:spPr>
      </p:pic>
      <p:pic>
        <p:nvPicPr>
          <p:cNvPr id="110" name="Google Shape;110;p15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385363" y="2246775"/>
            <a:ext cx="2619375" cy="2659112"/>
          </a:xfrm>
          <a:prstGeom prst="rect">
            <a:avLst/>
          </a:prstGeom>
          <a:noFill/>
          <a:ln>
            <a:noFill/>
          </a:ln>
        </p:spPr>
      </p:pic>
      <p:pic>
        <p:nvPicPr>
          <p:cNvPr id="111" name="Google Shape;111;p15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191250" y="2246775"/>
            <a:ext cx="2619375" cy="2659112"/>
          </a:xfrm>
          <a:prstGeom prst="rect">
            <a:avLst/>
          </a:prstGeom>
          <a:noFill/>
          <a:ln>
            <a:noFill/>
          </a:ln>
        </p:spPr>
      </p:pic>
      <p:pic>
        <p:nvPicPr>
          <p:cNvPr id="112" name="Google Shape;112;p15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001125" y="2246775"/>
            <a:ext cx="2619375" cy="2659112"/>
          </a:xfrm>
          <a:prstGeom prst="rect">
            <a:avLst/>
          </a:prstGeom>
          <a:noFill/>
          <a:ln>
            <a:noFill/>
          </a:ln>
        </p:spPr>
      </p:pic>
      <p:sp>
        <p:nvSpPr>
          <p:cNvPr id="113" name="Google Shape;113;p15"/>
          <p:cNvSpPr txBox="1"/>
          <p:nvPr/>
        </p:nvSpPr>
        <p:spPr>
          <a:xfrm>
            <a:off x="571500" y="381000"/>
            <a:ext cx="11601600" cy="120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00" b="1">
                <a:solidFill>
                  <a:srgbClr val="FFFF00"/>
                </a:solidFill>
                <a:latin typeface="Merriweather"/>
                <a:ea typeface="Merriweather"/>
                <a:cs typeface="Merriweather"/>
                <a:sym typeface="Merriweather"/>
              </a:rPr>
              <a:t>2.</a:t>
            </a:r>
            <a:r>
              <a:rPr lang="en-US" sz="2700" b="1">
                <a:solidFill>
                  <a:srgbClr val="FFD700"/>
                </a:solidFill>
                <a:latin typeface="Merriweather"/>
                <a:ea typeface="Merriweather"/>
                <a:cs typeface="Merriweather"/>
                <a:sym typeface="Merriweather"/>
              </a:rPr>
              <a:t> Group</a:t>
            </a:r>
            <a:r>
              <a:rPr lang="en-US" sz="2700" b="1">
                <a:solidFill>
                  <a:srgbClr val="FFFFFF"/>
                </a:solidFill>
                <a:latin typeface="Merriweather"/>
                <a:ea typeface="Merriweather"/>
                <a:cs typeface="Merriweather"/>
                <a:sym typeface="Merriweather"/>
              </a:rPr>
              <a:t> Introduction</a:t>
            </a:r>
            <a:endParaRPr sz="2700" b="1">
              <a:solidFill>
                <a:srgbClr val="FFFFFF"/>
              </a:solidFill>
              <a:latin typeface="Merriweather"/>
              <a:ea typeface="Merriweather"/>
              <a:cs typeface="Merriweather"/>
              <a:sym typeface="Merriweather"/>
            </a:endParaRPr>
          </a:p>
          <a:p>
            <a:pPr marL="0" marR="0" lvl="0" indent="0" algn="l" rtl="0">
              <a:lnSpc>
                <a:spcPct val="120000"/>
              </a:lnSpc>
              <a:spcBef>
                <a:spcPts val="1900"/>
              </a:spcBef>
              <a:spcAft>
                <a:spcPts val="0"/>
              </a:spcAft>
              <a:buNone/>
            </a:pPr>
            <a:endParaRPr sz="3000" b="1">
              <a:solidFill>
                <a:srgbClr val="F8FAFC"/>
              </a:solidFill>
              <a:latin typeface="Merriweather"/>
              <a:ea typeface="Merriweather"/>
              <a:cs typeface="Merriweather"/>
              <a:sym typeface="Merriweather"/>
            </a:endParaRPr>
          </a:p>
        </p:txBody>
      </p:sp>
      <p:sp>
        <p:nvSpPr>
          <p:cNvPr id="114" name="Google Shape;114;p15"/>
          <p:cNvSpPr/>
          <p:nvPr/>
        </p:nvSpPr>
        <p:spPr>
          <a:xfrm>
            <a:off x="571500" y="933450"/>
            <a:ext cx="11049000" cy="19200"/>
          </a:xfrm>
          <a:prstGeom prst="rect">
            <a:avLst/>
          </a:prstGeom>
          <a:solidFill>
            <a:srgbClr val="FBBF24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" name="Google Shape;115;p15"/>
          <p:cNvSpPr txBox="1"/>
          <p:nvPr/>
        </p:nvSpPr>
        <p:spPr>
          <a:xfrm>
            <a:off x="11487150" y="190500"/>
            <a:ext cx="4191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3</a:t>
            </a:r>
            <a:r>
              <a:rPr lang="en-US" sz="1200" b="1" i="0" u="none" strike="noStrike" cap="none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/ 2</a:t>
            </a:r>
            <a:r>
              <a:rPr lang="en-US" sz="1200" b="1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1</a:t>
            </a:r>
            <a:endParaRPr/>
          </a:p>
        </p:txBody>
      </p:sp>
      <p:sp>
        <p:nvSpPr>
          <p:cNvPr id="116" name="Google Shape;116;p15"/>
          <p:cNvSpPr txBox="1"/>
          <p:nvPr/>
        </p:nvSpPr>
        <p:spPr>
          <a:xfrm>
            <a:off x="715966" y="3372700"/>
            <a:ext cx="2330400" cy="86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1993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>
                <a:solidFill>
                  <a:srgbClr val="F8FAFC"/>
                </a:solidFill>
                <a:latin typeface="Merriweather"/>
                <a:ea typeface="Merriweather"/>
                <a:cs typeface="Merriweather"/>
                <a:sym typeface="Merriweather"/>
              </a:rPr>
              <a:t>Nguyễn Ngọc Nam</a:t>
            </a:r>
            <a:r>
              <a:rPr lang="en-US" sz="1650" b="1" i="0" u="none" strike="noStrike" cap="none">
                <a:solidFill>
                  <a:srgbClr val="F8FAFC"/>
                </a:solidFill>
                <a:latin typeface="Merriweather"/>
                <a:ea typeface="Merriweather"/>
                <a:cs typeface="Merriweather"/>
                <a:sym typeface="Merriweather"/>
              </a:rPr>
              <a:t> (Leader)</a:t>
            </a:r>
            <a:endParaRPr sz="1650" b="1" i="0" u="none" strike="noStrike" cap="none">
              <a:solidFill>
                <a:srgbClr val="F8FAFC"/>
              </a:solidFill>
              <a:latin typeface="Merriweather"/>
              <a:ea typeface="Merriweather"/>
              <a:cs typeface="Merriweather"/>
              <a:sym typeface="Merriweather"/>
            </a:endParaRPr>
          </a:p>
          <a:p>
            <a:pPr marL="0" marR="0" lvl="0" indent="0" algn="ctr" rtl="0">
              <a:lnSpc>
                <a:spcPct val="11993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>
                <a:solidFill>
                  <a:srgbClr val="F8FAFC"/>
                </a:solidFill>
                <a:latin typeface="Merriweather"/>
                <a:ea typeface="Merriweather"/>
                <a:cs typeface="Merriweather"/>
                <a:sym typeface="Merriweather"/>
              </a:rPr>
              <a:t>Student ID: DE200201</a:t>
            </a:r>
            <a:endParaRPr sz="1650" b="1">
              <a:solidFill>
                <a:srgbClr val="F8FAFC"/>
              </a:solidFill>
              <a:latin typeface="Merriweather"/>
              <a:ea typeface="Merriweather"/>
              <a:cs typeface="Merriweather"/>
              <a:sym typeface="Merriweather"/>
            </a:endParaRPr>
          </a:p>
        </p:txBody>
      </p:sp>
      <p:sp>
        <p:nvSpPr>
          <p:cNvPr id="117" name="Google Shape;117;p15"/>
          <p:cNvSpPr txBox="1"/>
          <p:nvPr/>
        </p:nvSpPr>
        <p:spPr>
          <a:xfrm>
            <a:off x="3397315" y="3372700"/>
            <a:ext cx="2587500" cy="116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1993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>
                <a:solidFill>
                  <a:srgbClr val="F8FAFC"/>
                </a:solidFill>
                <a:latin typeface="Merriweather"/>
                <a:ea typeface="Merriweather"/>
                <a:cs typeface="Merriweather"/>
                <a:sym typeface="Merriweather"/>
              </a:rPr>
              <a:t>Nguyễn Hải Dương</a:t>
            </a:r>
            <a:endParaRPr sz="1650" b="1">
              <a:solidFill>
                <a:srgbClr val="F8FAFC"/>
              </a:solidFill>
              <a:latin typeface="Merriweather"/>
              <a:ea typeface="Merriweather"/>
              <a:cs typeface="Merriweather"/>
              <a:sym typeface="Merriweather"/>
            </a:endParaRPr>
          </a:p>
          <a:p>
            <a:pPr marL="0" marR="0" lvl="0" indent="0" algn="ctr" rtl="0">
              <a:lnSpc>
                <a:spcPct val="119939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650" b="1">
              <a:solidFill>
                <a:srgbClr val="F8FAFC"/>
              </a:solidFill>
              <a:latin typeface="Merriweather"/>
              <a:ea typeface="Merriweather"/>
              <a:cs typeface="Merriweather"/>
              <a:sym typeface="Merriweather"/>
            </a:endParaRPr>
          </a:p>
          <a:p>
            <a:pPr marL="0" lvl="0" indent="0" algn="ctr" rtl="0">
              <a:lnSpc>
                <a:spcPct val="11993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>
                <a:solidFill>
                  <a:srgbClr val="F8FAFC"/>
                </a:solidFill>
                <a:latin typeface="Merriweather"/>
                <a:ea typeface="Merriweather"/>
                <a:cs typeface="Merriweather"/>
                <a:sym typeface="Merriweather"/>
              </a:rPr>
              <a:t>Student ID: DE200154</a:t>
            </a:r>
            <a:endParaRPr sz="1650" b="1">
              <a:solidFill>
                <a:srgbClr val="F8FAFC"/>
              </a:solidFill>
              <a:latin typeface="Merriweather"/>
              <a:ea typeface="Merriweather"/>
              <a:cs typeface="Merriweather"/>
              <a:sym typeface="Merriweather"/>
            </a:endParaRPr>
          </a:p>
          <a:p>
            <a:pPr marL="0" marR="0" lvl="0" indent="0" algn="ctr" rtl="0">
              <a:lnSpc>
                <a:spcPct val="119939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650" b="1">
              <a:solidFill>
                <a:srgbClr val="F8FAFC"/>
              </a:solidFill>
              <a:latin typeface="Merriweather"/>
              <a:ea typeface="Merriweather"/>
              <a:cs typeface="Merriweather"/>
              <a:sym typeface="Merriweather"/>
            </a:endParaRPr>
          </a:p>
        </p:txBody>
      </p:sp>
      <p:pic>
        <p:nvPicPr>
          <p:cNvPr id="118" name="Google Shape;118;p15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728799" y="2636500"/>
            <a:ext cx="304800" cy="342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9" name="Google Shape;119;p15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476750" y="2572800"/>
            <a:ext cx="428625" cy="342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0" name="Google Shape;120;p15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7348549" y="2636500"/>
            <a:ext cx="304800" cy="342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1" name="Google Shape;121;p15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10139375" y="2678975"/>
            <a:ext cx="342900" cy="342900"/>
          </a:xfrm>
          <a:prstGeom prst="rect">
            <a:avLst/>
          </a:prstGeom>
          <a:noFill/>
          <a:ln>
            <a:noFill/>
          </a:ln>
        </p:spPr>
      </p:pic>
      <p:sp>
        <p:nvSpPr>
          <p:cNvPr id="122" name="Google Shape;122;p15"/>
          <p:cNvSpPr txBox="1"/>
          <p:nvPr/>
        </p:nvSpPr>
        <p:spPr>
          <a:xfrm>
            <a:off x="6199215" y="3372700"/>
            <a:ext cx="2587500" cy="116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1993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>
                <a:solidFill>
                  <a:srgbClr val="F8FAFC"/>
                </a:solidFill>
                <a:latin typeface="Merriweather"/>
                <a:ea typeface="Merriweather"/>
                <a:cs typeface="Merriweather"/>
                <a:sym typeface="Merriweather"/>
              </a:rPr>
              <a:t>Nguyễn Đỗ Tiến Thịnh</a:t>
            </a:r>
            <a:endParaRPr sz="1650" b="1">
              <a:solidFill>
                <a:srgbClr val="F8FAFC"/>
              </a:solidFill>
              <a:latin typeface="Merriweather"/>
              <a:ea typeface="Merriweather"/>
              <a:cs typeface="Merriweather"/>
              <a:sym typeface="Merriweather"/>
            </a:endParaRPr>
          </a:p>
          <a:p>
            <a:pPr marL="0" marR="0" lvl="0" indent="0" algn="ctr" rtl="0">
              <a:lnSpc>
                <a:spcPct val="119939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650" b="1">
              <a:solidFill>
                <a:srgbClr val="F8FAFC"/>
              </a:solidFill>
              <a:latin typeface="Merriweather"/>
              <a:ea typeface="Merriweather"/>
              <a:cs typeface="Merriweather"/>
              <a:sym typeface="Merriweather"/>
            </a:endParaRPr>
          </a:p>
          <a:p>
            <a:pPr marL="0" lvl="0" indent="0" algn="ctr" rtl="0">
              <a:lnSpc>
                <a:spcPct val="11993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>
                <a:solidFill>
                  <a:srgbClr val="F8FAFC"/>
                </a:solidFill>
                <a:latin typeface="Merriweather"/>
                <a:ea typeface="Merriweather"/>
                <a:cs typeface="Merriweather"/>
                <a:sym typeface="Merriweather"/>
              </a:rPr>
              <a:t>Student ID: DE200232</a:t>
            </a:r>
            <a:endParaRPr sz="1650" b="1">
              <a:solidFill>
                <a:srgbClr val="F8FAFC"/>
              </a:solidFill>
              <a:latin typeface="Merriweather"/>
              <a:ea typeface="Merriweather"/>
              <a:cs typeface="Merriweather"/>
              <a:sym typeface="Merriweather"/>
            </a:endParaRPr>
          </a:p>
          <a:p>
            <a:pPr marL="0" marR="0" lvl="0" indent="0" algn="ctr" rtl="0">
              <a:lnSpc>
                <a:spcPct val="119939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650" b="1">
              <a:solidFill>
                <a:srgbClr val="F8FAFC"/>
              </a:solidFill>
              <a:latin typeface="Merriweather"/>
              <a:ea typeface="Merriweather"/>
              <a:cs typeface="Merriweather"/>
              <a:sym typeface="Merriweather"/>
            </a:endParaRPr>
          </a:p>
        </p:txBody>
      </p:sp>
      <p:sp>
        <p:nvSpPr>
          <p:cNvPr id="123" name="Google Shape;123;p15"/>
          <p:cNvSpPr txBox="1"/>
          <p:nvPr/>
        </p:nvSpPr>
        <p:spPr>
          <a:xfrm>
            <a:off x="9017062" y="3379931"/>
            <a:ext cx="2587500" cy="116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1993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dirty="0">
                <a:solidFill>
                  <a:srgbClr val="F8FAFC"/>
                </a:solidFill>
                <a:latin typeface="Merriweather"/>
                <a:ea typeface="Merriweather"/>
                <a:cs typeface="Merriweather"/>
                <a:sym typeface="Merriweather"/>
              </a:rPr>
              <a:t>Lê Nhật Thành</a:t>
            </a:r>
            <a:endParaRPr sz="1650" b="1" dirty="0">
              <a:solidFill>
                <a:srgbClr val="F8FAFC"/>
              </a:solidFill>
              <a:latin typeface="Merriweather"/>
              <a:ea typeface="Merriweather"/>
              <a:cs typeface="Merriweather"/>
              <a:sym typeface="Merriweather"/>
            </a:endParaRPr>
          </a:p>
          <a:p>
            <a:pPr marL="0" marR="0" lvl="0" indent="0" algn="ctr" rtl="0">
              <a:lnSpc>
                <a:spcPct val="119939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650" b="1" dirty="0">
              <a:solidFill>
                <a:srgbClr val="F8FAFC"/>
              </a:solidFill>
              <a:latin typeface="Merriweather"/>
              <a:ea typeface="Merriweather"/>
              <a:cs typeface="Merriweather"/>
              <a:sym typeface="Merriweather"/>
            </a:endParaRPr>
          </a:p>
          <a:p>
            <a:pPr marL="0" lvl="0" indent="0" algn="ctr" rtl="0">
              <a:lnSpc>
                <a:spcPct val="11993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dirty="0">
                <a:solidFill>
                  <a:srgbClr val="F8FAFC"/>
                </a:solidFill>
                <a:latin typeface="Merriweather"/>
                <a:ea typeface="Merriweather"/>
                <a:cs typeface="Merriweather"/>
                <a:sym typeface="Merriweather"/>
              </a:rPr>
              <a:t>Student ID: DE200496</a:t>
            </a:r>
            <a:endParaRPr sz="1650" b="1" dirty="0">
              <a:solidFill>
                <a:srgbClr val="F8FAFC"/>
              </a:solidFill>
              <a:latin typeface="Merriweather"/>
              <a:ea typeface="Merriweather"/>
              <a:cs typeface="Merriweather"/>
              <a:sym typeface="Merriweather"/>
            </a:endParaRPr>
          </a:p>
          <a:p>
            <a:pPr marL="0" marR="0" lvl="0" indent="0" algn="ctr" rtl="0">
              <a:lnSpc>
                <a:spcPct val="119939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650" b="1" dirty="0">
              <a:solidFill>
                <a:srgbClr val="F8FAFC"/>
              </a:solidFill>
              <a:latin typeface="Merriweather"/>
              <a:ea typeface="Merriweather"/>
              <a:cs typeface="Merriweather"/>
              <a:sym typeface="Merriweather"/>
            </a:endParaRP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32B"/>
        </a:solidFill>
        <a:effectLst/>
      </p:bgPr>
    </p:bg>
    <p:spTree>
      <p:nvGrpSpPr>
        <p:cNvPr id="1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16"/>
          <p:cNvSpPr txBox="1"/>
          <p:nvPr/>
        </p:nvSpPr>
        <p:spPr>
          <a:xfrm>
            <a:off x="571500" y="381000"/>
            <a:ext cx="11601600" cy="39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550" b="1" i="0" u="none" strike="noStrike" cap="none">
                <a:solidFill>
                  <a:srgbClr val="FFFF00"/>
                </a:solidFill>
                <a:latin typeface="Merriweather"/>
                <a:ea typeface="Merriweather"/>
                <a:cs typeface="Merriweather"/>
                <a:sym typeface="Merriweather"/>
              </a:rPr>
              <a:t>3.</a:t>
            </a:r>
            <a:r>
              <a:rPr lang="en-US" sz="2550" b="1" i="0" u="none" strike="noStrike" cap="none">
                <a:solidFill>
                  <a:srgbClr val="FFFFFF"/>
                </a:solidFill>
                <a:latin typeface="Merriweather"/>
                <a:ea typeface="Merriweather"/>
                <a:cs typeface="Merriweather"/>
                <a:sym typeface="Merriweather"/>
              </a:rPr>
              <a:t> Project </a:t>
            </a:r>
            <a:r>
              <a:rPr lang="en-US" sz="2550" b="1" i="0" u="none" strike="noStrike" cap="none">
                <a:solidFill>
                  <a:srgbClr val="FFFF00"/>
                </a:solidFill>
                <a:latin typeface="Merriweather"/>
                <a:ea typeface="Merriweather"/>
                <a:cs typeface="Merriweather"/>
                <a:sym typeface="Merriweather"/>
              </a:rPr>
              <a:t>Objectives</a:t>
            </a:r>
            <a:endParaRPr>
              <a:solidFill>
                <a:srgbClr val="FFFF00"/>
              </a:solidFill>
            </a:endParaRPr>
          </a:p>
        </p:txBody>
      </p:sp>
      <p:sp>
        <p:nvSpPr>
          <p:cNvPr id="129" name="Google Shape;129;p16"/>
          <p:cNvSpPr/>
          <p:nvPr/>
        </p:nvSpPr>
        <p:spPr>
          <a:xfrm>
            <a:off x="571500" y="864840"/>
            <a:ext cx="11049000" cy="19050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" name="Google Shape;130;p16"/>
          <p:cNvSpPr txBox="1"/>
          <p:nvPr/>
        </p:nvSpPr>
        <p:spPr>
          <a:xfrm>
            <a:off x="11458575" y="238125"/>
            <a:ext cx="400050" cy="19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4 / 21</a:t>
            </a:r>
            <a:endParaRPr/>
          </a:p>
        </p:txBody>
      </p:sp>
      <p:sp>
        <p:nvSpPr>
          <p:cNvPr id="131" name="Google Shape;131;p16"/>
          <p:cNvSpPr txBox="1"/>
          <p:nvPr/>
        </p:nvSpPr>
        <p:spPr>
          <a:xfrm>
            <a:off x="438150" y="1365103"/>
            <a:ext cx="5600700" cy="2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993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FFFF00"/>
                </a:solidFill>
                <a:latin typeface="Merriweather"/>
                <a:ea typeface="Merriweather"/>
                <a:cs typeface="Merriweather"/>
                <a:sym typeface="Merriweather"/>
              </a:rPr>
              <a:t>Academic</a:t>
            </a:r>
            <a:r>
              <a:rPr lang="en-US" sz="1650" b="1" i="0" u="none" strike="noStrike" cap="none">
                <a:solidFill>
                  <a:srgbClr val="FFFFFF"/>
                </a:solidFill>
                <a:latin typeface="Merriweather"/>
                <a:ea typeface="Merriweather"/>
                <a:cs typeface="Merriweather"/>
                <a:sym typeface="Merriweather"/>
              </a:rPr>
              <a:t> &amp; </a:t>
            </a:r>
            <a:r>
              <a:rPr lang="en-US" sz="1650" b="1" i="0" u="none" strike="noStrike" cap="none">
                <a:solidFill>
                  <a:srgbClr val="FFFF00"/>
                </a:solidFill>
                <a:latin typeface="Merriweather"/>
                <a:ea typeface="Merriweather"/>
                <a:cs typeface="Merriweather"/>
                <a:sym typeface="Merriweather"/>
              </a:rPr>
              <a:t>Practical </a:t>
            </a:r>
            <a:r>
              <a:rPr lang="en-US" sz="1650" b="1" i="0" u="none" strike="noStrike" cap="none">
                <a:solidFill>
                  <a:srgbClr val="FFFFFF"/>
                </a:solidFill>
                <a:latin typeface="Merriweather"/>
                <a:ea typeface="Merriweather"/>
                <a:cs typeface="Merriweather"/>
                <a:sym typeface="Merriweather"/>
              </a:rPr>
              <a:t>Goals</a:t>
            </a:r>
            <a:endParaRPr/>
          </a:p>
        </p:txBody>
      </p:sp>
      <p:sp>
        <p:nvSpPr>
          <p:cNvPr id="132" name="Google Shape;132;p16"/>
          <p:cNvSpPr txBox="1"/>
          <p:nvPr/>
        </p:nvSpPr>
        <p:spPr>
          <a:xfrm>
            <a:off x="507800" y="1850385"/>
            <a:ext cx="5334000" cy="51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92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75" b="0" i="0" u="none" strike="noStrike" cap="non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To design a highly optimized, memory-safe console application that handles real-world business requirements.</a:t>
            </a:r>
            <a:endParaRPr/>
          </a:p>
        </p:txBody>
      </p:sp>
      <p:pic>
        <p:nvPicPr>
          <p:cNvPr id="133" name="Google Shape;133;p16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286500" y="1499040"/>
            <a:ext cx="5334000" cy="3333750"/>
          </a:xfrm>
          <a:prstGeom prst="rect">
            <a:avLst/>
          </a:prstGeom>
          <a:noFill/>
          <a:ln>
            <a:noFill/>
          </a:ln>
        </p:spPr>
      </p:pic>
      <p:sp>
        <p:nvSpPr>
          <p:cNvPr id="134" name="Google Shape;134;p16"/>
          <p:cNvSpPr txBox="1"/>
          <p:nvPr/>
        </p:nvSpPr>
        <p:spPr>
          <a:xfrm>
            <a:off x="904875" y="2761232"/>
            <a:ext cx="5000700" cy="51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92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75" b="1" i="0" u="none" strike="noStrike" cap="none" dirty="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Apply OOP Principles</a:t>
            </a:r>
            <a:r>
              <a:rPr lang="en-US" sz="1275" b="0" i="0" u="none" strike="noStrike" cap="none" dirty="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Encapsulation, Abstraction, Inheritance, and Polymorphism.</a:t>
            </a:r>
            <a:endParaRPr dirty="0"/>
          </a:p>
        </p:txBody>
      </p:sp>
      <p:sp>
        <p:nvSpPr>
          <p:cNvPr id="135" name="Google Shape;135;p16"/>
          <p:cNvSpPr txBox="1"/>
          <p:nvPr/>
        </p:nvSpPr>
        <p:spPr>
          <a:xfrm>
            <a:off x="904875" y="3437358"/>
            <a:ext cx="5000700" cy="51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92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75" b="1" i="0" u="none" strike="noStrike" cap="none" dirty="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Advanced Algorithms</a:t>
            </a:r>
            <a:r>
              <a:rPr lang="en-US" sz="1275" b="0" i="0" u="none" strike="noStrike" cap="none" dirty="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Implement </a:t>
            </a:r>
            <a:r>
              <a:rPr lang="en-US" sz="1275" b="0" i="0" u="none" strike="noStrike" cap="none" dirty="0">
                <a:solidFill>
                  <a:srgbClr val="64FFDA"/>
                </a:solidFill>
                <a:latin typeface="Inter"/>
                <a:ea typeface="Inter"/>
                <a:cs typeface="Inter"/>
                <a:sym typeface="Inter"/>
              </a:rPr>
              <a:t>O(log n)</a:t>
            </a:r>
            <a:r>
              <a:rPr lang="en-US" sz="1275" b="0" i="0" u="none" strike="noStrike" cap="none" dirty="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complexity search methods.</a:t>
            </a:r>
            <a:endParaRPr dirty="0"/>
          </a:p>
        </p:txBody>
      </p:sp>
      <p:sp>
        <p:nvSpPr>
          <p:cNvPr id="136" name="Google Shape;136;p16"/>
          <p:cNvSpPr txBox="1"/>
          <p:nvPr/>
        </p:nvSpPr>
        <p:spPr>
          <a:xfrm>
            <a:off x="904875" y="4113485"/>
            <a:ext cx="5000700" cy="19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92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75" b="1" i="0" u="none" strike="noStrike" cap="non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Data Persistence</a:t>
            </a:r>
            <a:r>
              <a:rPr lang="en-US" sz="1275" b="0" i="0" u="none" strike="noStrike" cap="non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Read and write states securely using .</a:t>
            </a:r>
            <a:endParaRPr/>
          </a:p>
        </p:txBody>
      </p:sp>
      <p:pic>
        <p:nvPicPr>
          <p:cNvPr id="137" name="Google Shape;137;p16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2794570"/>
            <a:ext cx="171450" cy="180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8" name="Google Shape;138;p16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3470696"/>
            <a:ext cx="171450" cy="180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9" name="Google Shape;139;p16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4146822"/>
            <a:ext cx="171450" cy="180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32B"/>
        </a:solidFill>
        <a:effectLst/>
      </p:bgPr>
    </p:bg>
    <p:spTree>
      <p:nvGrpSpPr>
        <p:cNvPr id="1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4" name="Google Shape;144;p17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52875" y="1737301"/>
            <a:ext cx="5334000" cy="2919561"/>
          </a:xfrm>
          <a:prstGeom prst="rect">
            <a:avLst/>
          </a:prstGeom>
          <a:noFill/>
          <a:ln>
            <a:noFill/>
          </a:ln>
        </p:spPr>
      </p:pic>
      <p:pic>
        <p:nvPicPr>
          <p:cNvPr id="145" name="Google Shape;145;p17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244025" y="1796290"/>
            <a:ext cx="5334000" cy="2919561"/>
          </a:xfrm>
          <a:prstGeom prst="rect">
            <a:avLst/>
          </a:prstGeom>
          <a:noFill/>
          <a:ln>
            <a:noFill/>
          </a:ln>
        </p:spPr>
      </p:pic>
      <p:sp>
        <p:nvSpPr>
          <p:cNvPr id="147" name="Google Shape;147;p17"/>
          <p:cNvSpPr/>
          <p:nvPr/>
        </p:nvSpPr>
        <p:spPr>
          <a:xfrm>
            <a:off x="571500" y="864840"/>
            <a:ext cx="11049000" cy="19050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8" name="Google Shape;148;p17"/>
          <p:cNvSpPr txBox="1"/>
          <p:nvPr/>
        </p:nvSpPr>
        <p:spPr>
          <a:xfrm>
            <a:off x="11468100" y="238125"/>
            <a:ext cx="390525" cy="19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5 / 21</a:t>
            </a:r>
            <a:endParaRPr/>
          </a:p>
        </p:txBody>
      </p:sp>
      <p:sp>
        <p:nvSpPr>
          <p:cNvPr id="149" name="Google Shape;149;p17"/>
          <p:cNvSpPr txBox="1"/>
          <p:nvPr/>
        </p:nvSpPr>
        <p:spPr>
          <a:xfrm>
            <a:off x="871925" y="2091565"/>
            <a:ext cx="4930500" cy="2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38125" tIns="0" rIns="0" bIns="0" anchor="t" anchorCtr="0">
            <a:spAutoFit/>
          </a:bodyPr>
          <a:lstStyle/>
          <a:p>
            <a:pPr marL="0" marR="0" lvl="0" indent="0" algn="l" rtl="0">
              <a:lnSpc>
                <a:spcPct val="11993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>
                <a:solidFill>
                  <a:srgbClr val="FFFFFF"/>
                </a:solidFill>
                <a:latin typeface="Merriweather"/>
                <a:ea typeface="Merriweather"/>
                <a:cs typeface="Merriweather"/>
                <a:sym typeface="Merriweather"/>
              </a:rPr>
              <a:t>  </a:t>
            </a:r>
            <a:r>
              <a:rPr lang="en-US" sz="1650" b="1" i="0" u="none" strike="noStrike" cap="none">
                <a:solidFill>
                  <a:srgbClr val="FFFF00"/>
                </a:solidFill>
                <a:latin typeface="Merriweather"/>
                <a:ea typeface="Merriweather"/>
                <a:cs typeface="Merriweather"/>
                <a:sym typeface="Merriweather"/>
              </a:rPr>
              <a:t>The</a:t>
            </a:r>
            <a:r>
              <a:rPr lang="en-US" sz="1650" b="1" i="0" u="none" strike="noStrike" cap="none">
                <a:solidFill>
                  <a:srgbClr val="FFFFFF"/>
                </a:solidFill>
                <a:latin typeface="Merriweather"/>
                <a:ea typeface="Merriweather"/>
                <a:cs typeface="Merriweather"/>
                <a:sym typeface="Merriweather"/>
              </a:rPr>
              <a:t> </a:t>
            </a:r>
            <a:r>
              <a:rPr lang="en-US" sz="1650" b="1" i="0" u="none" strike="noStrike" cap="none">
                <a:solidFill>
                  <a:srgbClr val="FFFF00"/>
                </a:solidFill>
                <a:latin typeface="Merriweather"/>
                <a:ea typeface="Merriweather"/>
                <a:cs typeface="Merriweather"/>
                <a:sym typeface="Merriweather"/>
              </a:rPr>
              <a:t>Traditional Retail Issue</a:t>
            </a:r>
            <a:endParaRPr>
              <a:solidFill>
                <a:srgbClr val="FFFF00"/>
              </a:solidFill>
            </a:endParaRPr>
          </a:p>
        </p:txBody>
      </p:sp>
      <p:sp>
        <p:nvSpPr>
          <p:cNvPr id="150" name="Google Shape;150;p17"/>
          <p:cNvSpPr txBox="1"/>
          <p:nvPr/>
        </p:nvSpPr>
        <p:spPr>
          <a:xfrm>
            <a:off x="871925" y="2438185"/>
            <a:ext cx="4695900" cy="51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92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75" b="0" i="0" u="none" strike="noStrike" cap="non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Many small-scale stores rely on manual inventory tracking. This presents significant flaws:</a:t>
            </a:r>
            <a:endParaRPr/>
          </a:p>
        </p:txBody>
      </p:sp>
      <p:sp>
        <p:nvSpPr>
          <p:cNvPr id="151" name="Google Shape;151;p17"/>
          <p:cNvSpPr txBox="1"/>
          <p:nvPr/>
        </p:nvSpPr>
        <p:spPr>
          <a:xfrm>
            <a:off x="6586925" y="2091565"/>
            <a:ext cx="4930500" cy="2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38125" tIns="0" rIns="0" bIns="0" anchor="t" anchorCtr="0">
            <a:spAutoFit/>
          </a:bodyPr>
          <a:lstStyle/>
          <a:p>
            <a:pPr marL="0" marR="0" lvl="0" indent="0" algn="l" rtl="0">
              <a:lnSpc>
                <a:spcPct val="11993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>
                <a:solidFill>
                  <a:srgbClr val="FFFFFF"/>
                </a:solidFill>
                <a:latin typeface="Merriweather"/>
                <a:ea typeface="Merriweather"/>
                <a:cs typeface="Merriweather"/>
                <a:sym typeface="Merriweather"/>
              </a:rPr>
              <a:t>  </a:t>
            </a:r>
            <a:r>
              <a:rPr lang="en-US" sz="1650" b="1" i="0" u="none" strike="noStrike" cap="none">
                <a:solidFill>
                  <a:srgbClr val="FFFF00"/>
                </a:solidFill>
                <a:latin typeface="Merriweather"/>
                <a:ea typeface="Merriweather"/>
                <a:cs typeface="Merriweather"/>
                <a:sym typeface="Merriweather"/>
              </a:rPr>
              <a:t>Our Digital Solution</a:t>
            </a:r>
            <a:endParaRPr>
              <a:solidFill>
                <a:srgbClr val="FFFF00"/>
              </a:solidFill>
            </a:endParaRPr>
          </a:p>
        </p:txBody>
      </p:sp>
      <p:sp>
        <p:nvSpPr>
          <p:cNvPr id="152" name="Google Shape;152;p17"/>
          <p:cNvSpPr txBox="1"/>
          <p:nvPr/>
        </p:nvSpPr>
        <p:spPr>
          <a:xfrm>
            <a:off x="6586925" y="2438185"/>
            <a:ext cx="4695900" cy="51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92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75" b="0" i="0" u="none" strike="noStrike" cap="non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We developed a C++ application that digitizes the entire workflow:</a:t>
            </a:r>
            <a:endParaRPr/>
          </a:p>
        </p:txBody>
      </p:sp>
      <p:pic>
        <p:nvPicPr>
          <p:cNvPr id="153" name="Google Shape;153;p17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871925" y="2110615"/>
            <a:ext cx="238125" cy="209550"/>
          </a:xfrm>
          <a:prstGeom prst="rect">
            <a:avLst/>
          </a:prstGeom>
          <a:noFill/>
          <a:ln>
            <a:noFill/>
          </a:ln>
        </p:spPr>
      </p:pic>
      <p:sp>
        <p:nvSpPr>
          <p:cNvPr id="154" name="Google Shape;154;p17"/>
          <p:cNvSpPr txBox="1"/>
          <p:nvPr/>
        </p:nvSpPr>
        <p:spPr>
          <a:xfrm>
            <a:off x="1005275" y="3099935"/>
            <a:ext cx="57300" cy="19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75" b="0" i="0" u="none" strike="noStrike" cap="non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▪</a:t>
            </a:r>
            <a:endParaRPr/>
          </a:p>
        </p:txBody>
      </p:sp>
      <p:sp>
        <p:nvSpPr>
          <p:cNvPr id="155" name="Google Shape;155;p17"/>
          <p:cNvSpPr txBox="1"/>
          <p:nvPr/>
        </p:nvSpPr>
        <p:spPr>
          <a:xfrm>
            <a:off x="1062425" y="3098982"/>
            <a:ext cx="4505400" cy="19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7150" tIns="0" rIns="0" bIns="0" anchor="t" anchorCtr="0">
            <a:spAutoFit/>
          </a:bodyPr>
          <a:lstStyle/>
          <a:p>
            <a:pPr marL="0" marR="0" lvl="0" indent="0" algn="l" rtl="0">
              <a:lnSpc>
                <a:spcPct val="15992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75" b="0" i="0" u="none" strike="noStrike" cap="non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High risk of data loss upon power failure.</a:t>
            </a:r>
            <a:endParaRPr/>
          </a:p>
        </p:txBody>
      </p:sp>
      <p:sp>
        <p:nvSpPr>
          <p:cNvPr id="156" name="Google Shape;156;p17"/>
          <p:cNvSpPr txBox="1"/>
          <p:nvPr/>
        </p:nvSpPr>
        <p:spPr>
          <a:xfrm>
            <a:off x="1005275" y="3454146"/>
            <a:ext cx="57300" cy="19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75" b="0" i="0" u="none" strike="noStrike" cap="non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▪</a:t>
            </a:r>
            <a:endParaRPr/>
          </a:p>
        </p:txBody>
      </p:sp>
      <p:sp>
        <p:nvSpPr>
          <p:cNvPr id="157" name="Google Shape;157;p17"/>
          <p:cNvSpPr txBox="1"/>
          <p:nvPr/>
        </p:nvSpPr>
        <p:spPr>
          <a:xfrm>
            <a:off x="1062425" y="3453193"/>
            <a:ext cx="4505400" cy="19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7150" tIns="0" rIns="0" bIns="0" anchor="t" anchorCtr="0">
            <a:spAutoFit/>
          </a:bodyPr>
          <a:lstStyle/>
          <a:p>
            <a:pPr marL="0" marR="0" lvl="0" indent="0" algn="l" rtl="0">
              <a:lnSpc>
                <a:spcPct val="15992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75" b="0" i="0" u="none" strike="noStrike" cap="non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Slow order processing and checkout times.</a:t>
            </a:r>
            <a:endParaRPr/>
          </a:p>
        </p:txBody>
      </p:sp>
      <p:sp>
        <p:nvSpPr>
          <p:cNvPr id="158" name="Google Shape;158;p17"/>
          <p:cNvSpPr txBox="1"/>
          <p:nvPr/>
        </p:nvSpPr>
        <p:spPr>
          <a:xfrm>
            <a:off x="1005275" y="3808357"/>
            <a:ext cx="57300" cy="19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75" b="0" i="0" u="none" strike="noStrike" cap="non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▪</a:t>
            </a:r>
            <a:endParaRPr/>
          </a:p>
        </p:txBody>
      </p:sp>
      <p:sp>
        <p:nvSpPr>
          <p:cNvPr id="159" name="Google Shape;159;p17"/>
          <p:cNvSpPr txBox="1"/>
          <p:nvPr/>
        </p:nvSpPr>
        <p:spPr>
          <a:xfrm>
            <a:off x="1062425" y="3807404"/>
            <a:ext cx="4505400" cy="51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7150" tIns="0" rIns="0" bIns="0" anchor="t" anchorCtr="0">
            <a:spAutoFit/>
          </a:bodyPr>
          <a:lstStyle/>
          <a:p>
            <a:pPr marL="0" marR="0" lvl="0" indent="0" algn="l" rtl="0">
              <a:lnSpc>
                <a:spcPct val="15992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75" b="0" i="0" u="none" strike="noStrike" cap="non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Lack of accountability (No record of who modified the stock).</a:t>
            </a:r>
            <a:endParaRPr/>
          </a:p>
        </p:txBody>
      </p:sp>
      <p:pic>
        <p:nvPicPr>
          <p:cNvPr id="160" name="Google Shape;160;p17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6586925" y="2110615"/>
            <a:ext cx="238125" cy="209550"/>
          </a:xfrm>
          <a:prstGeom prst="rect">
            <a:avLst/>
          </a:prstGeom>
          <a:noFill/>
          <a:ln>
            <a:noFill/>
          </a:ln>
        </p:spPr>
      </p:pic>
      <p:sp>
        <p:nvSpPr>
          <p:cNvPr id="161" name="Google Shape;161;p17"/>
          <p:cNvSpPr txBox="1"/>
          <p:nvPr/>
        </p:nvSpPr>
        <p:spPr>
          <a:xfrm>
            <a:off x="6720275" y="3099935"/>
            <a:ext cx="57300" cy="19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75" b="0" i="0" u="none" strike="noStrike" cap="non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▪</a:t>
            </a:r>
            <a:endParaRPr/>
          </a:p>
        </p:txBody>
      </p:sp>
      <p:sp>
        <p:nvSpPr>
          <p:cNvPr id="162" name="Google Shape;162;p17"/>
          <p:cNvSpPr txBox="1"/>
          <p:nvPr/>
        </p:nvSpPr>
        <p:spPr>
          <a:xfrm>
            <a:off x="6777425" y="3098982"/>
            <a:ext cx="4505400" cy="19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7150" tIns="0" rIns="0" bIns="0" anchor="t" anchorCtr="0">
            <a:spAutoFit/>
          </a:bodyPr>
          <a:lstStyle/>
          <a:p>
            <a:pPr marL="0" marR="0" lvl="0" indent="0" algn="l" rtl="0">
              <a:lnSpc>
                <a:spcPct val="15992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75" b="0" i="0" u="none" strike="noStrike" cap="none" dirty="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Persistent data structures (`products.txt`).</a:t>
            </a:r>
            <a:endParaRPr dirty="0"/>
          </a:p>
        </p:txBody>
      </p:sp>
      <p:sp>
        <p:nvSpPr>
          <p:cNvPr id="163" name="Google Shape;163;p17"/>
          <p:cNvSpPr txBox="1"/>
          <p:nvPr/>
        </p:nvSpPr>
        <p:spPr>
          <a:xfrm>
            <a:off x="6720275" y="3454146"/>
            <a:ext cx="57300" cy="19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75" b="0" i="0" u="none" strike="noStrike" cap="non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▪</a:t>
            </a:r>
            <a:endParaRPr/>
          </a:p>
        </p:txBody>
      </p:sp>
      <p:sp>
        <p:nvSpPr>
          <p:cNvPr id="164" name="Google Shape;164;p17"/>
          <p:cNvSpPr txBox="1"/>
          <p:nvPr/>
        </p:nvSpPr>
        <p:spPr>
          <a:xfrm>
            <a:off x="6777425" y="3453193"/>
            <a:ext cx="4505400" cy="19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7150" tIns="0" rIns="0" bIns="0" anchor="t" anchorCtr="0">
            <a:spAutoFit/>
          </a:bodyPr>
          <a:lstStyle/>
          <a:p>
            <a:pPr marL="0" marR="0" lvl="0" indent="0" algn="l" rtl="0">
              <a:lnSpc>
                <a:spcPct val="15992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75" b="0" i="0" u="none" strike="noStrike" cap="none" dirty="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Automated Order Approval Workflow for Staff.</a:t>
            </a:r>
            <a:endParaRPr dirty="0"/>
          </a:p>
        </p:txBody>
      </p:sp>
      <p:sp>
        <p:nvSpPr>
          <p:cNvPr id="165" name="Google Shape;165;p17"/>
          <p:cNvSpPr txBox="1"/>
          <p:nvPr/>
        </p:nvSpPr>
        <p:spPr>
          <a:xfrm>
            <a:off x="6720275" y="3808357"/>
            <a:ext cx="57300" cy="19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75" b="0" i="0" u="none" strike="noStrike" cap="non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▪</a:t>
            </a:r>
            <a:endParaRPr/>
          </a:p>
        </p:txBody>
      </p:sp>
      <p:sp>
        <p:nvSpPr>
          <p:cNvPr id="166" name="Google Shape;166;p17"/>
          <p:cNvSpPr txBox="1"/>
          <p:nvPr/>
        </p:nvSpPr>
        <p:spPr>
          <a:xfrm>
            <a:off x="6777425" y="3807404"/>
            <a:ext cx="4505400" cy="19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7150" tIns="0" rIns="0" bIns="0" anchor="t" anchorCtr="0">
            <a:spAutoFit/>
          </a:bodyPr>
          <a:lstStyle/>
          <a:p>
            <a:pPr marL="0" marR="0" lvl="0" indent="0" algn="l" rtl="0">
              <a:lnSpc>
                <a:spcPct val="15992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75" b="0" i="0" u="none" strike="noStrike" cap="non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Integrated </a:t>
            </a:r>
            <a:r>
              <a:rPr lang="en-US" sz="1275" b="1" i="0" u="none" strike="noStrike" cap="non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Audit Logs</a:t>
            </a:r>
            <a:r>
              <a:rPr lang="en-US" sz="1275" b="0" i="0" u="none" strike="noStrike" cap="non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to track every employee action.</a:t>
            </a:r>
            <a:endParaRPr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DB3584F-5E77-765C-95F6-D5D31D58D756}"/>
              </a:ext>
            </a:extLst>
          </p:cNvPr>
          <p:cNvSpPr txBox="1"/>
          <p:nvPr/>
        </p:nvSpPr>
        <p:spPr>
          <a:xfrm>
            <a:off x="611511" y="392236"/>
            <a:ext cx="6094476" cy="4343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i="0" u="none" strike="noStrike" cap="none" dirty="0">
                <a:solidFill>
                  <a:srgbClr val="FFFF00"/>
                </a:solidFill>
                <a:latin typeface="Merriweather"/>
                <a:ea typeface="Merriweather"/>
                <a:cs typeface="Merriweather"/>
                <a:sym typeface="Merriweather"/>
              </a:rPr>
              <a:t>4.</a:t>
            </a:r>
            <a:r>
              <a:rPr lang="en-US" sz="2000" b="1" i="0" u="none" strike="noStrike" cap="none" dirty="0">
                <a:solidFill>
                  <a:srgbClr val="FFFFFF"/>
                </a:solidFill>
                <a:latin typeface="Merriweather"/>
                <a:ea typeface="Merriweather"/>
                <a:cs typeface="Merriweather"/>
                <a:sym typeface="Merriweather"/>
              </a:rPr>
              <a:t> </a:t>
            </a:r>
            <a:r>
              <a:rPr lang="en-US" sz="2000" b="1" i="0" u="none" strike="noStrike" cap="none" dirty="0">
                <a:solidFill>
                  <a:srgbClr val="FFFF00"/>
                </a:solidFill>
                <a:latin typeface="Merriweather"/>
                <a:ea typeface="Merriweather"/>
                <a:cs typeface="Merriweather"/>
                <a:sym typeface="Merriweather"/>
              </a:rPr>
              <a:t>Problem</a:t>
            </a:r>
            <a:r>
              <a:rPr lang="en-US" sz="2000" b="1" i="0" u="none" strike="noStrike" cap="none" dirty="0">
                <a:solidFill>
                  <a:srgbClr val="FFFFFF"/>
                </a:solidFill>
                <a:latin typeface="Merriweather"/>
                <a:ea typeface="Merriweather"/>
                <a:cs typeface="Merriweather"/>
                <a:sym typeface="Merriweather"/>
              </a:rPr>
              <a:t> Statement</a:t>
            </a:r>
            <a:endParaRPr lang="en-US" sz="2000"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32B"/>
        </a:solidFill>
        <a:effectLst/>
      </p:bgPr>
    </p:bg>
    <p:spTree>
      <p:nvGrpSpPr>
        <p:cNvPr id="1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18"/>
          <p:cNvSpPr txBox="1"/>
          <p:nvPr/>
        </p:nvSpPr>
        <p:spPr>
          <a:xfrm>
            <a:off x="571500" y="381000"/>
            <a:ext cx="11601600" cy="39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550" b="1" i="0" u="none" strike="noStrike" cap="none">
                <a:solidFill>
                  <a:srgbClr val="FFFF00"/>
                </a:solidFill>
                <a:latin typeface="Merriweather"/>
                <a:ea typeface="Merriweather"/>
                <a:cs typeface="Merriweather"/>
                <a:sym typeface="Merriweather"/>
              </a:rPr>
              <a:t>5. Software Introduction</a:t>
            </a:r>
            <a:endParaRPr>
              <a:solidFill>
                <a:srgbClr val="FFFF00"/>
              </a:solidFill>
            </a:endParaRPr>
          </a:p>
        </p:txBody>
      </p:sp>
      <p:sp>
        <p:nvSpPr>
          <p:cNvPr id="173" name="Google Shape;173;p18"/>
          <p:cNvSpPr/>
          <p:nvPr/>
        </p:nvSpPr>
        <p:spPr>
          <a:xfrm>
            <a:off x="571500" y="864840"/>
            <a:ext cx="11049000" cy="19050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4" name="Google Shape;174;p18"/>
          <p:cNvSpPr txBox="1"/>
          <p:nvPr/>
        </p:nvSpPr>
        <p:spPr>
          <a:xfrm>
            <a:off x="11468100" y="238125"/>
            <a:ext cx="390525" cy="19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6 / 21</a:t>
            </a:r>
            <a:endParaRPr/>
          </a:p>
        </p:txBody>
      </p:sp>
      <p:sp>
        <p:nvSpPr>
          <p:cNvPr id="175" name="Google Shape;175;p18"/>
          <p:cNvSpPr txBox="1"/>
          <p:nvPr/>
        </p:nvSpPr>
        <p:spPr>
          <a:xfrm>
            <a:off x="444075" y="1393565"/>
            <a:ext cx="5600700" cy="34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993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50" b="1" i="0" u="none" strike="noStrike" cap="none">
                <a:solidFill>
                  <a:srgbClr val="FFFF00"/>
                </a:solidFill>
                <a:latin typeface="Merriweather"/>
                <a:ea typeface="Merriweather"/>
                <a:cs typeface="Merriweather"/>
                <a:sym typeface="Merriweather"/>
              </a:rPr>
              <a:t>Mini-Supermarket Environment</a:t>
            </a:r>
            <a:endParaRPr sz="2000">
              <a:solidFill>
                <a:srgbClr val="FFFF00"/>
              </a:solidFill>
            </a:endParaRPr>
          </a:p>
        </p:txBody>
      </p:sp>
      <p:sp>
        <p:nvSpPr>
          <p:cNvPr id="176" name="Google Shape;176;p18"/>
          <p:cNvSpPr txBox="1"/>
          <p:nvPr/>
        </p:nvSpPr>
        <p:spPr>
          <a:xfrm>
            <a:off x="518400" y="1994285"/>
            <a:ext cx="5334000" cy="82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92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75" b="0" i="0" u="none" strike="noStrike" cap="non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The system simulates a fully functional Retail Store. It handles practical data such as </a:t>
            </a:r>
            <a:r>
              <a:rPr lang="en-US" sz="1275" b="1" i="0" u="none" strike="noStrike" cap="non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Item IDs, Categories, Pricing (VND), and Stock Levels.</a:t>
            </a:r>
            <a:endParaRPr/>
          </a:p>
        </p:txBody>
      </p:sp>
      <p:sp>
        <p:nvSpPr>
          <p:cNvPr id="178" name="Google Shape;178;p18"/>
          <p:cNvSpPr txBox="1"/>
          <p:nvPr/>
        </p:nvSpPr>
        <p:spPr>
          <a:xfrm>
            <a:off x="851775" y="2914043"/>
            <a:ext cx="5000700" cy="51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92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75" b="1" i="0" u="none" strike="noStrike" cap="non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Multi-Actor Roles:</a:t>
            </a:r>
            <a:r>
              <a:rPr lang="en-US" sz="1275" b="0" i="0" u="none" strike="noStrike" cap="non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Supports interaction from Customers, Staff, Managers, and the Boss.</a:t>
            </a:r>
            <a:endParaRPr/>
          </a:p>
        </p:txBody>
      </p:sp>
      <p:sp>
        <p:nvSpPr>
          <p:cNvPr id="179" name="Google Shape;179;p18"/>
          <p:cNvSpPr txBox="1"/>
          <p:nvPr/>
        </p:nvSpPr>
        <p:spPr>
          <a:xfrm>
            <a:off x="851775" y="3849130"/>
            <a:ext cx="5000700" cy="51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92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75" b="1" i="0" u="none" strike="noStrike" cap="non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Notification System:</a:t>
            </a:r>
            <a:r>
              <a:rPr lang="en-US" sz="1275" b="0" i="0" u="none" strike="noStrike" cap="non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A built-in inbox that alerts users about order statuses.</a:t>
            </a:r>
            <a:endParaRPr/>
          </a:p>
        </p:txBody>
      </p:sp>
      <p:sp>
        <p:nvSpPr>
          <p:cNvPr id="180" name="Google Shape;180;p18"/>
          <p:cNvSpPr txBox="1"/>
          <p:nvPr/>
        </p:nvSpPr>
        <p:spPr>
          <a:xfrm>
            <a:off x="851775" y="4525257"/>
            <a:ext cx="5000700" cy="51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92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75" b="1" i="0" u="none" strike="noStrike" cap="non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Smart Guest Login:</a:t>
            </a:r>
            <a:r>
              <a:rPr lang="en-US" sz="1275" b="0" i="0" u="none" strike="noStrike" cap="non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Auto-creates customer accounts for unregistered visitors.</a:t>
            </a:r>
            <a:endParaRPr/>
          </a:p>
        </p:txBody>
      </p:sp>
      <p:pic>
        <p:nvPicPr>
          <p:cNvPr id="181" name="Google Shape;181;p18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18400" y="2947381"/>
            <a:ext cx="219075" cy="180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82" name="Google Shape;182;p18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18400" y="3882468"/>
            <a:ext cx="152400" cy="180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83" name="Google Shape;183;p18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18400" y="4558594"/>
            <a:ext cx="152400" cy="180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65DF14A9-94FE-CAF2-7914-F275FC0475B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91203" y="1781674"/>
            <a:ext cx="4876897" cy="2743583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32B"/>
        </a:solidFill>
        <a:effectLst/>
      </p:bgPr>
    </p:bg>
    <p:spTree>
      <p:nvGrpSpPr>
        <p:cNvPr id="1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8" name="Google Shape;188;p19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286500" y="1753840"/>
            <a:ext cx="5334000" cy="3333750"/>
          </a:xfrm>
          <a:prstGeom prst="rect">
            <a:avLst/>
          </a:prstGeom>
          <a:noFill/>
          <a:ln>
            <a:noFill/>
          </a:ln>
        </p:spPr>
      </p:pic>
      <p:sp>
        <p:nvSpPr>
          <p:cNvPr id="189" name="Google Shape;189;p19"/>
          <p:cNvSpPr txBox="1"/>
          <p:nvPr/>
        </p:nvSpPr>
        <p:spPr>
          <a:xfrm>
            <a:off x="571500" y="381000"/>
            <a:ext cx="11601600" cy="39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550" b="1" i="0" u="none" strike="noStrike" cap="none">
                <a:solidFill>
                  <a:srgbClr val="FFFF00"/>
                </a:solidFill>
                <a:latin typeface="Merriweather"/>
                <a:ea typeface="Merriweather"/>
                <a:cs typeface="Merriweather"/>
                <a:sym typeface="Merriweather"/>
              </a:rPr>
              <a:t>6. Core System Architecture</a:t>
            </a:r>
            <a:r>
              <a:rPr lang="en-US" sz="2550" b="1" i="0" u="none" strike="noStrike" cap="none">
                <a:solidFill>
                  <a:srgbClr val="FFFFFF"/>
                </a:solidFill>
                <a:latin typeface="Merriweather"/>
                <a:ea typeface="Merriweather"/>
                <a:cs typeface="Merriweather"/>
                <a:sym typeface="Merriweather"/>
              </a:rPr>
              <a:t> (UML)</a:t>
            </a:r>
            <a:endParaRPr/>
          </a:p>
        </p:txBody>
      </p:sp>
      <p:sp>
        <p:nvSpPr>
          <p:cNvPr id="190" name="Google Shape;190;p19"/>
          <p:cNvSpPr/>
          <p:nvPr/>
        </p:nvSpPr>
        <p:spPr>
          <a:xfrm>
            <a:off x="571500" y="864840"/>
            <a:ext cx="11049000" cy="19050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1" name="Google Shape;191;p19"/>
          <p:cNvSpPr txBox="1"/>
          <p:nvPr/>
        </p:nvSpPr>
        <p:spPr>
          <a:xfrm>
            <a:off x="11477625" y="238125"/>
            <a:ext cx="381000" cy="19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7 / 21</a:t>
            </a:r>
            <a:endParaRPr/>
          </a:p>
        </p:txBody>
      </p:sp>
      <p:sp>
        <p:nvSpPr>
          <p:cNvPr id="192" name="Google Shape;192;p19"/>
          <p:cNvSpPr txBox="1"/>
          <p:nvPr/>
        </p:nvSpPr>
        <p:spPr>
          <a:xfrm>
            <a:off x="604875" y="1377627"/>
            <a:ext cx="5600700" cy="37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993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50" b="1" i="0" u="none" strike="noStrike" cap="none">
                <a:solidFill>
                  <a:srgbClr val="FFFF00"/>
                </a:solidFill>
                <a:latin typeface="Merriweather"/>
                <a:ea typeface="Merriweather"/>
                <a:cs typeface="Merriweather"/>
                <a:sym typeface="Merriweather"/>
              </a:rPr>
              <a:t>Entity Relationship</a:t>
            </a:r>
            <a:r>
              <a:rPr lang="en-US" sz="2450" b="1" i="0" u="none" strike="noStrike" cap="none">
                <a:solidFill>
                  <a:srgbClr val="FFFFFF"/>
                </a:solidFill>
                <a:latin typeface="Merriweather"/>
                <a:ea typeface="Merriweather"/>
                <a:cs typeface="Merriweather"/>
                <a:sym typeface="Merriweather"/>
              </a:rPr>
              <a:t> Model</a:t>
            </a:r>
            <a:endParaRPr sz="2200"/>
          </a:p>
        </p:txBody>
      </p:sp>
      <p:sp>
        <p:nvSpPr>
          <p:cNvPr id="193" name="Google Shape;193;p19"/>
          <p:cNvSpPr txBox="1"/>
          <p:nvPr/>
        </p:nvSpPr>
        <p:spPr>
          <a:xfrm>
            <a:off x="571500" y="2100460"/>
            <a:ext cx="5334000" cy="19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92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75" b="0" i="0" u="none" strike="noStrike" cap="non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The source code is categorized into three primary OOP groups:</a:t>
            </a:r>
            <a:endParaRPr/>
          </a:p>
        </p:txBody>
      </p:sp>
      <p:pic>
        <p:nvPicPr>
          <p:cNvPr id="194" name="Google Shape;194;p19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305550" y="1772890"/>
            <a:ext cx="5295900" cy="3295650"/>
          </a:xfrm>
          <a:prstGeom prst="rect">
            <a:avLst/>
          </a:prstGeom>
          <a:noFill/>
          <a:ln>
            <a:noFill/>
          </a:ln>
        </p:spPr>
      </p:pic>
      <p:sp>
        <p:nvSpPr>
          <p:cNvPr id="195" name="Google Shape;195;p19"/>
          <p:cNvSpPr txBox="1"/>
          <p:nvPr/>
        </p:nvSpPr>
        <p:spPr>
          <a:xfrm>
            <a:off x="904875" y="2502296"/>
            <a:ext cx="5000700" cy="19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92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75" b="1" i="0" u="none" strike="noStrike" cap="non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Data Models:</a:t>
            </a:r>
            <a:r>
              <a:rPr lang="en-US" sz="1275" b="0" i="0" u="none" strike="noStrike" cap="non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Product class, CartItem &amp; Order structs.</a:t>
            </a:r>
            <a:endParaRPr/>
          </a:p>
        </p:txBody>
      </p:sp>
      <p:sp>
        <p:nvSpPr>
          <p:cNvPr id="196" name="Google Shape;196;p19"/>
          <p:cNvSpPr txBox="1"/>
          <p:nvPr/>
        </p:nvSpPr>
        <p:spPr>
          <a:xfrm>
            <a:off x="904875" y="3178423"/>
            <a:ext cx="5000700" cy="51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92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75" b="1" i="0" u="none" strike="noStrike" cap="non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Human Actors:</a:t>
            </a:r>
            <a:r>
              <a:rPr lang="en-US" sz="1275" b="0" i="0" u="none" strike="noStrike" cap="non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The User base class and its 4 polymorphic derived classes.</a:t>
            </a:r>
            <a:endParaRPr/>
          </a:p>
        </p:txBody>
      </p:sp>
      <p:sp>
        <p:nvSpPr>
          <p:cNvPr id="197" name="Google Shape;197;p19"/>
          <p:cNvSpPr txBox="1"/>
          <p:nvPr/>
        </p:nvSpPr>
        <p:spPr>
          <a:xfrm>
            <a:off x="904875" y="3854549"/>
            <a:ext cx="5000700" cy="51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92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75" b="1" i="0" u="none" strike="noStrike" cap="non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The Engine:</a:t>
            </a:r>
            <a:r>
              <a:rPr lang="en-US" sz="1275" b="0" i="0" u="none" strike="noStrike" cap="non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The Store class acts as the central Database &amp; Controller.</a:t>
            </a:r>
            <a:endParaRPr/>
          </a:p>
        </p:txBody>
      </p:sp>
      <p:pic>
        <p:nvPicPr>
          <p:cNvPr id="198" name="Google Shape;198;p19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71500" y="2535634"/>
            <a:ext cx="171450" cy="180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99" name="Google Shape;199;p19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571500" y="3211760"/>
            <a:ext cx="190500" cy="180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00" name="Google Shape;200;p19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571500" y="3887886"/>
            <a:ext cx="171450" cy="180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32B"/>
        </a:solidFill>
        <a:effectLst/>
      </p:bgPr>
    </p:bg>
    <p:spTree>
      <p:nvGrpSpPr>
        <p:cNvPr id="1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" name="Google Shape;205;p20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71500" y="2369565"/>
            <a:ext cx="5334000" cy="2807196"/>
          </a:xfrm>
          <a:prstGeom prst="rect">
            <a:avLst/>
          </a:prstGeom>
          <a:noFill/>
          <a:ln>
            <a:noFill/>
          </a:ln>
        </p:spPr>
      </p:pic>
      <p:sp>
        <p:nvSpPr>
          <p:cNvPr id="206" name="Google Shape;206;p20"/>
          <p:cNvSpPr txBox="1"/>
          <p:nvPr/>
        </p:nvSpPr>
        <p:spPr>
          <a:xfrm>
            <a:off x="571500" y="381000"/>
            <a:ext cx="11601600" cy="39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550" b="1" i="0" u="none" strike="noStrike" cap="none">
                <a:solidFill>
                  <a:srgbClr val="FFFF00"/>
                </a:solidFill>
                <a:latin typeface="Merriweather"/>
                <a:ea typeface="Merriweather"/>
                <a:cs typeface="Merriweather"/>
                <a:sym typeface="Merriweather"/>
              </a:rPr>
              <a:t>7.</a:t>
            </a:r>
            <a:r>
              <a:rPr lang="en-US" sz="2550" b="1" i="0" u="none" strike="noStrike" cap="none">
                <a:solidFill>
                  <a:srgbClr val="FFFFFF"/>
                </a:solidFill>
                <a:latin typeface="Merriweather"/>
                <a:ea typeface="Merriweather"/>
                <a:cs typeface="Merriweather"/>
                <a:sym typeface="Merriweather"/>
              </a:rPr>
              <a:t> OOP: </a:t>
            </a:r>
            <a:r>
              <a:rPr lang="en-US" sz="2550" b="1" i="0" u="none" strike="noStrike" cap="none">
                <a:solidFill>
                  <a:srgbClr val="FFFF00"/>
                </a:solidFill>
                <a:latin typeface="Merriweather"/>
                <a:ea typeface="Merriweather"/>
                <a:cs typeface="Merriweather"/>
                <a:sym typeface="Merriweather"/>
              </a:rPr>
              <a:t>Encapsulation</a:t>
            </a:r>
            <a:endParaRPr>
              <a:solidFill>
                <a:srgbClr val="FFFF00"/>
              </a:solidFill>
            </a:endParaRPr>
          </a:p>
        </p:txBody>
      </p:sp>
      <p:sp>
        <p:nvSpPr>
          <p:cNvPr id="207" name="Google Shape;207;p20"/>
          <p:cNvSpPr/>
          <p:nvPr/>
        </p:nvSpPr>
        <p:spPr>
          <a:xfrm>
            <a:off x="571500" y="864840"/>
            <a:ext cx="11049000" cy="19050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8" name="Google Shape;208;p20"/>
          <p:cNvSpPr txBox="1"/>
          <p:nvPr/>
        </p:nvSpPr>
        <p:spPr>
          <a:xfrm>
            <a:off x="11468100" y="238125"/>
            <a:ext cx="390525" cy="19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8 / 21</a:t>
            </a:r>
            <a:endParaRPr/>
          </a:p>
        </p:txBody>
      </p:sp>
      <p:sp>
        <p:nvSpPr>
          <p:cNvPr id="209" name="Google Shape;209;p20"/>
          <p:cNvSpPr txBox="1"/>
          <p:nvPr/>
        </p:nvSpPr>
        <p:spPr>
          <a:xfrm>
            <a:off x="6153150" y="2038665"/>
            <a:ext cx="5600700" cy="330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993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50" b="1" i="0" u="none" strike="noStrike" cap="none">
                <a:solidFill>
                  <a:srgbClr val="FFFF00"/>
                </a:solidFill>
                <a:latin typeface="Merriweather"/>
                <a:ea typeface="Merriweather"/>
                <a:cs typeface="Merriweather"/>
                <a:sym typeface="Merriweather"/>
              </a:rPr>
              <a:t>Data Hiding &amp; Protection</a:t>
            </a:r>
            <a:endParaRPr sz="1900">
              <a:solidFill>
                <a:srgbClr val="FFFF00"/>
              </a:solidFill>
            </a:endParaRPr>
          </a:p>
        </p:txBody>
      </p:sp>
      <p:sp>
        <p:nvSpPr>
          <p:cNvPr id="210" name="Google Shape;210;p20"/>
          <p:cNvSpPr txBox="1"/>
          <p:nvPr/>
        </p:nvSpPr>
        <p:spPr>
          <a:xfrm>
            <a:off x="6286500" y="2716185"/>
            <a:ext cx="5334000" cy="51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92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75" b="0" i="0" u="none" strike="noStrike" cap="non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Sensitive attributes within the Product class are strictly marked as private.</a:t>
            </a:r>
            <a:endParaRPr/>
          </a:p>
        </p:txBody>
      </p:sp>
      <p:sp>
        <p:nvSpPr>
          <p:cNvPr id="211" name="Google Shape;211;p20"/>
          <p:cNvSpPr txBox="1"/>
          <p:nvPr/>
        </p:nvSpPr>
        <p:spPr>
          <a:xfrm>
            <a:off x="6286500" y="3329357"/>
            <a:ext cx="5334000" cy="82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92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75" b="0" i="0" u="none" strike="noStrike" cap="non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Inventory modifications cannot be assigned directly. They must pass through the reduceStock() method, ensuring stock logic is executed safely.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32B"/>
        </a:solidFill>
        <a:effectLst/>
      </p:bgPr>
    </p:bg>
    <p:spTree>
      <p:nvGrpSpPr>
        <p:cNvPr id="1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6" name="Google Shape;216;p21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56425" y="2305865"/>
            <a:ext cx="5334000" cy="2433935"/>
          </a:xfrm>
          <a:prstGeom prst="rect">
            <a:avLst/>
          </a:prstGeom>
          <a:noFill/>
          <a:ln>
            <a:noFill/>
          </a:ln>
        </p:spPr>
      </p:pic>
      <p:sp>
        <p:nvSpPr>
          <p:cNvPr id="217" name="Google Shape;217;p21"/>
          <p:cNvSpPr txBox="1"/>
          <p:nvPr/>
        </p:nvSpPr>
        <p:spPr>
          <a:xfrm>
            <a:off x="571500" y="381000"/>
            <a:ext cx="11601600" cy="39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550" b="1" i="0" u="none" strike="noStrike" cap="none">
                <a:solidFill>
                  <a:srgbClr val="FFFF00"/>
                </a:solidFill>
                <a:latin typeface="Merriweather"/>
                <a:ea typeface="Merriweather"/>
                <a:cs typeface="Merriweather"/>
                <a:sym typeface="Merriweather"/>
              </a:rPr>
              <a:t>8. </a:t>
            </a:r>
            <a:r>
              <a:rPr lang="en-US" sz="2550" b="1" i="0" u="none" strike="noStrike" cap="none">
                <a:solidFill>
                  <a:srgbClr val="FFFFFF"/>
                </a:solidFill>
                <a:latin typeface="Merriweather"/>
                <a:ea typeface="Merriweather"/>
                <a:cs typeface="Merriweather"/>
                <a:sym typeface="Merriweather"/>
              </a:rPr>
              <a:t>OOP: </a:t>
            </a:r>
            <a:r>
              <a:rPr lang="en-US" sz="2550" b="1" i="0" u="none" strike="noStrike" cap="none">
                <a:solidFill>
                  <a:srgbClr val="FFD700"/>
                </a:solidFill>
                <a:latin typeface="Merriweather"/>
                <a:ea typeface="Merriweather"/>
                <a:cs typeface="Merriweather"/>
                <a:sym typeface="Merriweather"/>
              </a:rPr>
              <a:t>Abstraction</a:t>
            </a:r>
            <a:endParaRPr b="1">
              <a:solidFill>
                <a:srgbClr val="FFD700"/>
              </a:solidFill>
            </a:endParaRPr>
          </a:p>
        </p:txBody>
      </p:sp>
      <p:sp>
        <p:nvSpPr>
          <p:cNvPr id="218" name="Google Shape;218;p21"/>
          <p:cNvSpPr/>
          <p:nvPr/>
        </p:nvSpPr>
        <p:spPr>
          <a:xfrm>
            <a:off x="571500" y="864840"/>
            <a:ext cx="11049000" cy="19050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9" name="Google Shape;219;p21"/>
          <p:cNvSpPr txBox="1"/>
          <p:nvPr/>
        </p:nvSpPr>
        <p:spPr>
          <a:xfrm>
            <a:off x="11468100" y="238125"/>
            <a:ext cx="390525" cy="19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9 / 21</a:t>
            </a:r>
            <a:endParaRPr/>
          </a:p>
        </p:txBody>
      </p:sp>
      <p:sp>
        <p:nvSpPr>
          <p:cNvPr id="220" name="Google Shape;220;p21"/>
          <p:cNvSpPr txBox="1"/>
          <p:nvPr/>
        </p:nvSpPr>
        <p:spPr>
          <a:xfrm>
            <a:off x="6238075" y="1784965"/>
            <a:ext cx="5600700" cy="330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993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50" b="1" i="0" u="none" strike="noStrike" cap="none">
                <a:solidFill>
                  <a:srgbClr val="FFFF00"/>
                </a:solidFill>
                <a:latin typeface="Merriweather"/>
                <a:ea typeface="Merriweather"/>
                <a:cs typeface="Merriweather"/>
                <a:sym typeface="Merriweather"/>
              </a:rPr>
              <a:t>The Abstract Base Class</a:t>
            </a:r>
            <a:endParaRPr sz="1900">
              <a:solidFill>
                <a:srgbClr val="FFFF00"/>
              </a:solidFill>
            </a:endParaRPr>
          </a:p>
        </p:txBody>
      </p:sp>
      <p:sp>
        <p:nvSpPr>
          <p:cNvPr id="221" name="Google Shape;221;p21"/>
          <p:cNvSpPr txBox="1"/>
          <p:nvPr/>
        </p:nvSpPr>
        <p:spPr>
          <a:xfrm>
            <a:off x="6371425" y="2317035"/>
            <a:ext cx="5334000" cy="51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92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75" b="0" i="0" u="none" strike="noStrike" cap="non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The User class serves as an abstract blueprint. Credentials are shielded behind the protected modifier.</a:t>
            </a:r>
            <a:endParaRPr/>
          </a:p>
        </p:txBody>
      </p:sp>
      <p:sp>
        <p:nvSpPr>
          <p:cNvPr id="222" name="Google Shape;222;p21"/>
          <p:cNvSpPr txBox="1"/>
          <p:nvPr/>
        </p:nvSpPr>
        <p:spPr>
          <a:xfrm>
            <a:off x="6371425" y="3016957"/>
            <a:ext cx="5334000" cy="82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92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75" b="0" i="0" u="none" strike="noStrike" cap="non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The pure virtual function showMenu() = 0 establishes a strict contract: every derived role </a:t>
            </a:r>
            <a:r>
              <a:rPr lang="en-US" sz="1275" b="1" i="0" u="none" strike="noStrike" cap="non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must</a:t>
            </a:r>
            <a:r>
              <a:rPr lang="en-US" sz="1275" b="0" i="0" u="none" strike="noStrike" cap="non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implement its own specific user interface.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32B"/>
        </a:solidFill>
        <a:effectLst/>
      </p:bgPr>
    </p:bg>
    <p:spTree>
      <p:nvGrpSpPr>
        <p:cNvPr id="1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7" name="Google Shape;227;p22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212200" y="2284615"/>
            <a:ext cx="5334000" cy="2620565"/>
          </a:xfrm>
          <a:prstGeom prst="rect">
            <a:avLst/>
          </a:prstGeom>
          <a:noFill/>
          <a:ln>
            <a:noFill/>
          </a:ln>
        </p:spPr>
      </p:pic>
      <p:sp>
        <p:nvSpPr>
          <p:cNvPr id="228" name="Google Shape;228;p22"/>
          <p:cNvSpPr txBox="1"/>
          <p:nvPr/>
        </p:nvSpPr>
        <p:spPr>
          <a:xfrm>
            <a:off x="571500" y="381000"/>
            <a:ext cx="11601600" cy="39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550" b="1" i="0" u="none" strike="noStrike" cap="none">
                <a:solidFill>
                  <a:srgbClr val="FFFF00"/>
                </a:solidFill>
                <a:latin typeface="Merriweather"/>
                <a:ea typeface="Merriweather"/>
                <a:cs typeface="Merriweather"/>
                <a:sym typeface="Merriweather"/>
              </a:rPr>
              <a:t>9.</a:t>
            </a:r>
            <a:r>
              <a:rPr lang="en-US" sz="2550" b="1" i="0" u="none" strike="noStrike" cap="none">
                <a:solidFill>
                  <a:srgbClr val="FFFFFF"/>
                </a:solidFill>
                <a:latin typeface="Merriweather"/>
                <a:ea typeface="Merriweather"/>
                <a:cs typeface="Merriweather"/>
                <a:sym typeface="Merriweather"/>
              </a:rPr>
              <a:t> OOP: </a:t>
            </a:r>
            <a:r>
              <a:rPr lang="en-US" sz="2550" b="1" i="0" u="none" strike="noStrike" cap="none">
                <a:solidFill>
                  <a:srgbClr val="FFFF00"/>
                </a:solidFill>
                <a:latin typeface="Merriweather"/>
                <a:ea typeface="Merriweather"/>
                <a:cs typeface="Merriweather"/>
                <a:sym typeface="Merriweather"/>
              </a:rPr>
              <a:t>Inheritance (Part 1)</a:t>
            </a:r>
            <a:endParaRPr b="1">
              <a:solidFill>
                <a:srgbClr val="FFFF00"/>
              </a:solidFill>
            </a:endParaRPr>
          </a:p>
        </p:txBody>
      </p:sp>
      <p:sp>
        <p:nvSpPr>
          <p:cNvPr id="229" name="Google Shape;229;p22"/>
          <p:cNvSpPr/>
          <p:nvPr/>
        </p:nvSpPr>
        <p:spPr>
          <a:xfrm>
            <a:off x="571500" y="864840"/>
            <a:ext cx="11049000" cy="19050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0" name="Google Shape;230;p22"/>
          <p:cNvSpPr txBox="1"/>
          <p:nvPr/>
        </p:nvSpPr>
        <p:spPr>
          <a:xfrm>
            <a:off x="11391900" y="238125"/>
            <a:ext cx="466725" cy="19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10 / 21</a:t>
            </a:r>
            <a:endParaRPr/>
          </a:p>
        </p:txBody>
      </p:sp>
      <p:sp>
        <p:nvSpPr>
          <p:cNvPr id="231" name="Google Shape;231;p22"/>
          <p:cNvSpPr txBox="1"/>
          <p:nvPr/>
        </p:nvSpPr>
        <p:spPr>
          <a:xfrm>
            <a:off x="497200" y="2126990"/>
            <a:ext cx="5600700" cy="34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993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50" b="1" i="0" u="none" strike="noStrike" cap="none">
                <a:solidFill>
                  <a:srgbClr val="FFFF00"/>
                </a:solidFill>
                <a:latin typeface="Merriweather"/>
                <a:ea typeface="Merriweather"/>
                <a:cs typeface="Merriweather"/>
                <a:sym typeface="Merriweather"/>
              </a:rPr>
              <a:t>Polymorphic Derivation</a:t>
            </a:r>
            <a:endParaRPr sz="2000">
              <a:solidFill>
                <a:srgbClr val="FFFF00"/>
              </a:solidFill>
            </a:endParaRPr>
          </a:p>
        </p:txBody>
      </p:sp>
      <p:sp>
        <p:nvSpPr>
          <p:cNvPr id="232" name="Google Shape;232;p22"/>
          <p:cNvSpPr txBox="1"/>
          <p:nvPr/>
        </p:nvSpPr>
        <p:spPr>
          <a:xfrm>
            <a:off x="497200" y="2631235"/>
            <a:ext cx="5334000" cy="19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92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75" b="0" i="0" u="none" strike="noStrike" cap="non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The Customer and Staff classes publicly inherit from User.</a:t>
            </a:r>
            <a:endParaRPr/>
          </a:p>
        </p:txBody>
      </p:sp>
      <p:sp>
        <p:nvSpPr>
          <p:cNvPr id="233" name="Google Shape;233;p22"/>
          <p:cNvSpPr txBox="1"/>
          <p:nvPr/>
        </p:nvSpPr>
        <p:spPr>
          <a:xfrm>
            <a:off x="497200" y="2985446"/>
            <a:ext cx="5334000" cy="82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92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75" b="0" i="0" u="none" strike="noStrike" cap="non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This eliminates code duplication for credential management. Each subclass automatically hardcodes its role string into the parent's constructor during instantiation.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32B"/>
        </a:solidFill>
        <a:effectLst/>
      </p:bgPr>
    </p:bg>
    <p:spTree>
      <p:nvGrpSpPr>
        <p:cNvPr id="1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8" name="Google Shape;238;p23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71500" y="1966140"/>
            <a:ext cx="5334000" cy="3367087"/>
          </a:xfrm>
          <a:prstGeom prst="rect">
            <a:avLst/>
          </a:prstGeom>
          <a:noFill/>
          <a:ln>
            <a:noFill/>
          </a:ln>
        </p:spPr>
      </p:pic>
      <p:sp>
        <p:nvSpPr>
          <p:cNvPr id="239" name="Google Shape;239;p23"/>
          <p:cNvSpPr txBox="1"/>
          <p:nvPr/>
        </p:nvSpPr>
        <p:spPr>
          <a:xfrm>
            <a:off x="571500" y="381000"/>
            <a:ext cx="11601600" cy="39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550" b="1" i="0" u="none" strike="noStrike" cap="none">
                <a:solidFill>
                  <a:srgbClr val="FFFF00"/>
                </a:solidFill>
                <a:latin typeface="Merriweather"/>
                <a:ea typeface="Merriweather"/>
                <a:cs typeface="Merriweather"/>
                <a:sym typeface="Merriweather"/>
              </a:rPr>
              <a:t>10.</a:t>
            </a:r>
            <a:r>
              <a:rPr lang="en-US" sz="2550" b="1" i="0" u="none" strike="noStrike" cap="none">
                <a:solidFill>
                  <a:srgbClr val="FFFFFF"/>
                </a:solidFill>
                <a:latin typeface="Merriweather"/>
                <a:ea typeface="Merriweather"/>
                <a:cs typeface="Merriweather"/>
                <a:sym typeface="Merriweather"/>
              </a:rPr>
              <a:t> OOP: </a:t>
            </a:r>
            <a:r>
              <a:rPr lang="en-US" sz="2550" b="1" i="0" u="none" strike="noStrike" cap="none">
                <a:solidFill>
                  <a:srgbClr val="FFFF00"/>
                </a:solidFill>
                <a:latin typeface="Merriweather"/>
                <a:ea typeface="Merriweather"/>
                <a:cs typeface="Merriweather"/>
                <a:sym typeface="Merriweather"/>
              </a:rPr>
              <a:t>Inheritance (Part 2)</a:t>
            </a:r>
            <a:endParaRPr>
              <a:solidFill>
                <a:srgbClr val="FFFF00"/>
              </a:solidFill>
            </a:endParaRPr>
          </a:p>
        </p:txBody>
      </p:sp>
      <p:sp>
        <p:nvSpPr>
          <p:cNvPr id="240" name="Google Shape;240;p23"/>
          <p:cNvSpPr/>
          <p:nvPr/>
        </p:nvSpPr>
        <p:spPr>
          <a:xfrm>
            <a:off x="571500" y="864840"/>
            <a:ext cx="11049000" cy="19050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1" name="Google Shape;241;p23"/>
          <p:cNvSpPr txBox="1"/>
          <p:nvPr/>
        </p:nvSpPr>
        <p:spPr>
          <a:xfrm>
            <a:off x="11430000" y="238125"/>
            <a:ext cx="428625" cy="19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11 / 21</a:t>
            </a:r>
            <a:endParaRPr/>
          </a:p>
        </p:txBody>
      </p:sp>
      <p:sp>
        <p:nvSpPr>
          <p:cNvPr id="242" name="Google Shape;242;p23"/>
          <p:cNvSpPr txBox="1"/>
          <p:nvPr/>
        </p:nvSpPr>
        <p:spPr>
          <a:xfrm>
            <a:off x="6153150" y="1708703"/>
            <a:ext cx="5600700" cy="39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993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550" b="1" i="0" u="none" strike="noStrike" cap="none">
                <a:solidFill>
                  <a:srgbClr val="FFFF00"/>
                </a:solidFill>
                <a:latin typeface="Merriweather"/>
                <a:ea typeface="Merriweather"/>
                <a:cs typeface="Merriweather"/>
                <a:sym typeface="Merriweather"/>
              </a:rPr>
              <a:t>Administrative Privileges</a:t>
            </a:r>
            <a:endParaRPr sz="2300" b="1">
              <a:solidFill>
                <a:srgbClr val="FFFF00"/>
              </a:solidFill>
            </a:endParaRPr>
          </a:p>
        </p:txBody>
      </p:sp>
      <p:sp>
        <p:nvSpPr>
          <p:cNvPr id="243" name="Google Shape;243;p23"/>
          <p:cNvSpPr txBox="1"/>
          <p:nvPr/>
        </p:nvSpPr>
        <p:spPr>
          <a:xfrm>
            <a:off x="6286500" y="2312760"/>
            <a:ext cx="5334000" cy="51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92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75" b="0" i="0" u="none" strike="noStrike" cap="non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Similarly, the Manager and Boss classes inherit the exact same core framework.</a:t>
            </a:r>
            <a:endParaRPr/>
          </a:p>
        </p:txBody>
      </p:sp>
      <p:sp>
        <p:nvSpPr>
          <p:cNvPr id="244" name="Google Shape;244;p23"/>
          <p:cNvSpPr txBox="1"/>
          <p:nvPr/>
        </p:nvSpPr>
        <p:spPr>
          <a:xfrm>
            <a:off x="6286500" y="2925932"/>
            <a:ext cx="5334000" cy="82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92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75" b="0" i="0" u="none" strike="noStrike" cap="non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However, by overriding the showMenu() function differently, they gain exclusive capabilities to interact with the Store object's restricted variables, such as viewing total revenue.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32B"/>
        </a:solidFill>
        <a:effectLst/>
      </p:bgPr>
    </p:bg>
    <p:spTree>
      <p:nvGrpSpPr>
        <p:cNvPr id="1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9" name="Google Shape;249;p24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233425" y="1951153"/>
            <a:ext cx="5334000" cy="2433935"/>
          </a:xfrm>
          <a:prstGeom prst="rect">
            <a:avLst/>
          </a:prstGeom>
          <a:noFill/>
          <a:ln>
            <a:noFill/>
          </a:ln>
        </p:spPr>
      </p:pic>
      <p:sp>
        <p:nvSpPr>
          <p:cNvPr id="250" name="Google Shape;250;p24"/>
          <p:cNvSpPr txBox="1"/>
          <p:nvPr/>
        </p:nvSpPr>
        <p:spPr>
          <a:xfrm>
            <a:off x="571500" y="381000"/>
            <a:ext cx="11601600" cy="39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550" b="1" i="0" u="none" strike="noStrike" cap="none">
                <a:solidFill>
                  <a:srgbClr val="FFFF00"/>
                </a:solidFill>
                <a:latin typeface="Merriweather"/>
                <a:ea typeface="Merriweather"/>
                <a:cs typeface="Merriweather"/>
                <a:sym typeface="Merriweather"/>
              </a:rPr>
              <a:t>11.</a:t>
            </a:r>
            <a:r>
              <a:rPr lang="en-US" sz="2550" b="1" i="0" u="none" strike="noStrike" cap="none">
                <a:solidFill>
                  <a:srgbClr val="FFFFFF"/>
                </a:solidFill>
                <a:latin typeface="Merriweather"/>
                <a:ea typeface="Merriweather"/>
                <a:cs typeface="Merriweather"/>
                <a:sym typeface="Merriweather"/>
              </a:rPr>
              <a:t> OOP: </a:t>
            </a:r>
            <a:r>
              <a:rPr lang="en-US" sz="2550" b="1" i="0" u="none" strike="noStrike" cap="none">
                <a:solidFill>
                  <a:srgbClr val="FFFF00"/>
                </a:solidFill>
                <a:latin typeface="Merriweather"/>
                <a:ea typeface="Merriweather"/>
                <a:cs typeface="Merriweather"/>
                <a:sym typeface="Merriweather"/>
              </a:rPr>
              <a:t>Polymorphism</a:t>
            </a:r>
            <a:endParaRPr>
              <a:solidFill>
                <a:srgbClr val="FFFF00"/>
              </a:solidFill>
            </a:endParaRPr>
          </a:p>
        </p:txBody>
      </p:sp>
      <p:sp>
        <p:nvSpPr>
          <p:cNvPr id="251" name="Google Shape;251;p24"/>
          <p:cNvSpPr/>
          <p:nvPr/>
        </p:nvSpPr>
        <p:spPr>
          <a:xfrm>
            <a:off x="571500" y="864840"/>
            <a:ext cx="11049000" cy="19050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2" name="Google Shape;252;p24"/>
          <p:cNvSpPr txBox="1"/>
          <p:nvPr/>
        </p:nvSpPr>
        <p:spPr>
          <a:xfrm>
            <a:off x="11401425" y="238125"/>
            <a:ext cx="457200" cy="19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12 / 21</a:t>
            </a:r>
            <a:endParaRPr/>
          </a:p>
        </p:txBody>
      </p:sp>
      <p:sp>
        <p:nvSpPr>
          <p:cNvPr id="253" name="Google Shape;253;p24"/>
          <p:cNvSpPr txBox="1"/>
          <p:nvPr/>
        </p:nvSpPr>
        <p:spPr>
          <a:xfrm>
            <a:off x="571500" y="1639078"/>
            <a:ext cx="5600700" cy="36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993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350" b="1" i="0" u="none" strike="noStrike" cap="none">
                <a:solidFill>
                  <a:srgbClr val="FFFF00"/>
                </a:solidFill>
                <a:latin typeface="Merriweather"/>
                <a:ea typeface="Merriweather"/>
                <a:cs typeface="Merriweather"/>
                <a:sym typeface="Merriweather"/>
              </a:rPr>
              <a:t>Late Binding (Dynamic Routing)</a:t>
            </a:r>
            <a:endParaRPr sz="2100" b="1">
              <a:solidFill>
                <a:srgbClr val="FFFF00"/>
              </a:solidFill>
            </a:endParaRPr>
          </a:p>
        </p:txBody>
      </p:sp>
      <p:sp>
        <p:nvSpPr>
          <p:cNvPr id="254" name="Google Shape;254;p24"/>
          <p:cNvSpPr txBox="1"/>
          <p:nvPr/>
        </p:nvSpPr>
        <p:spPr>
          <a:xfrm>
            <a:off x="571500" y="2142910"/>
            <a:ext cx="5334000" cy="51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92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75" b="0" i="0" u="none" strike="noStrike" cap="non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This is the crown jewel of our architecture. In the main loop, we execute a single, generic command: loggedInUser-&gt;showMenu().</a:t>
            </a:r>
            <a:endParaRPr/>
          </a:p>
        </p:txBody>
      </p:sp>
      <p:sp>
        <p:nvSpPr>
          <p:cNvPr id="255" name="Google Shape;255;p24"/>
          <p:cNvSpPr txBox="1"/>
          <p:nvPr/>
        </p:nvSpPr>
        <p:spPr>
          <a:xfrm>
            <a:off x="571500" y="2756082"/>
            <a:ext cx="5334000" cy="82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92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75" b="0" i="0" u="none" strike="noStrike" cap="non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C++ dynamically determines the exact object type in memory at runtime and flawlessly renders the correct UI without requiring complex switch statements.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32B"/>
        </a:solidFill>
        <a:effectLst/>
      </p:bgPr>
    </p:bg>
    <p:spTree>
      <p:nvGrpSpPr>
        <p:cNvPr id="1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0" name="Google Shape;260;p25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44100" y="1970840"/>
            <a:ext cx="5334000" cy="2247304"/>
          </a:xfrm>
          <a:prstGeom prst="rect">
            <a:avLst/>
          </a:prstGeom>
          <a:noFill/>
          <a:ln>
            <a:noFill/>
          </a:ln>
        </p:spPr>
      </p:pic>
      <p:sp>
        <p:nvSpPr>
          <p:cNvPr id="261" name="Google Shape;261;p25"/>
          <p:cNvSpPr txBox="1"/>
          <p:nvPr/>
        </p:nvSpPr>
        <p:spPr>
          <a:xfrm>
            <a:off x="571500" y="381000"/>
            <a:ext cx="11601600" cy="39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550" b="1" i="0" u="none" strike="noStrike" cap="none">
                <a:solidFill>
                  <a:srgbClr val="FFFF00"/>
                </a:solidFill>
                <a:latin typeface="Merriweather"/>
                <a:ea typeface="Merriweather"/>
                <a:cs typeface="Merriweather"/>
                <a:sym typeface="Merriweather"/>
              </a:rPr>
              <a:t>12.</a:t>
            </a:r>
            <a:r>
              <a:rPr lang="en-US" sz="2550" b="1" i="0" u="none" strike="noStrike" cap="none">
                <a:solidFill>
                  <a:srgbClr val="FFFFFF"/>
                </a:solidFill>
                <a:latin typeface="Merriweather"/>
                <a:ea typeface="Merriweather"/>
                <a:cs typeface="Merriweather"/>
                <a:sym typeface="Merriweather"/>
              </a:rPr>
              <a:t> </a:t>
            </a:r>
            <a:r>
              <a:rPr lang="en-US" sz="2550" b="1" i="0" u="none" strike="noStrike" cap="none">
                <a:solidFill>
                  <a:srgbClr val="FFFF00"/>
                </a:solidFill>
                <a:latin typeface="Merriweather"/>
                <a:ea typeface="Merriweather"/>
                <a:cs typeface="Merriweather"/>
                <a:sym typeface="Merriweather"/>
              </a:rPr>
              <a:t>Data Decoupling</a:t>
            </a:r>
            <a:r>
              <a:rPr lang="en-US" sz="2550" b="1" i="0" u="none" strike="noStrike" cap="none">
                <a:solidFill>
                  <a:srgbClr val="FFFFFF"/>
                </a:solidFill>
                <a:latin typeface="Merriweather"/>
                <a:ea typeface="Merriweather"/>
                <a:cs typeface="Merriweather"/>
                <a:sym typeface="Merriweather"/>
              </a:rPr>
              <a:t> (Cart System)</a:t>
            </a:r>
            <a:endParaRPr/>
          </a:p>
        </p:txBody>
      </p:sp>
      <p:sp>
        <p:nvSpPr>
          <p:cNvPr id="262" name="Google Shape;262;p25"/>
          <p:cNvSpPr/>
          <p:nvPr/>
        </p:nvSpPr>
        <p:spPr>
          <a:xfrm>
            <a:off x="571500" y="864840"/>
            <a:ext cx="11049000" cy="19050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3" name="Google Shape;263;p25"/>
          <p:cNvSpPr txBox="1"/>
          <p:nvPr/>
        </p:nvSpPr>
        <p:spPr>
          <a:xfrm>
            <a:off x="11401425" y="238125"/>
            <a:ext cx="6054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13 / 21</a:t>
            </a:r>
            <a:endParaRPr/>
          </a:p>
        </p:txBody>
      </p:sp>
      <p:sp>
        <p:nvSpPr>
          <p:cNvPr id="264" name="Google Shape;264;p25"/>
          <p:cNvSpPr txBox="1"/>
          <p:nvPr/>
        </p:nvSpPr>
        <p:spPr>
          <a:xfrm>
            <a:off x="5970575" y="1694153"/>
            <a:ext cx="5600700" cy="39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993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550" b="1" i="0" u="none" strike="noStrike" cap="none">
                <a:solidFill>
                  <a:srgbClr val="FFFF00"/>
                </a:solidFill>
                <a:latin typeface="Merriweather"/>
                <a:ea typeface="Merriweather"/>
                <a:cs typeface="Merriweather"/>
                <a:sym typeface="Merriweather"/>
              </a:rPr>
              <a:t>Safe Struct</a:t>
            </a:r>
            <a:r>
              <a:rPr lang="en-US" sz="2550" b="1" i="0" u="none" strike="noStrike" cap="none">
                <a:solidFill>
                  <a:srgbClr val="FFFFFF"/>
                </a:solidFill>
                <a:latin typeface="Merriweather"/>
                <a:ea typeface="Merriweather"/>
                <a:cs typeface="Merriweather"/>
                <a:sym typeface="Merriweather"/>
              </a:rPr>
              <a:t> Referencing</a:t>
            </a:r>
            <a:endParaRPr sz="2300"/>
          </a:p>
        </p:txBody>
      </p:sp>
      <p:sp>
        <p:nvSpPr>
          <p:cNvPr id="265" name="Google Shape;265;p25"/>
          <p:cNvSpPr txBox="1"/>
          <p:nvPr/>
        </p:nvSpPr>
        <p:spPr>
          <a:xfrm>
            <a:off x="6159100" y="2317460"/>
            <a:ext cx="5334000" cy="82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92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75" b="0" i="0" u="none" strike="noStrike" cap="non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Instead of storing raw `Product*` pointers which can become dangling if a product is deleted, we decouple the data using string productID.</a:t>
            </a:r>
            <a:endParaRPr/>
          </a:p>
        </p:txBody>
      </p:sp>
      <p:sp>
        <p:nvSpPr>
          <p:cNvPr id="266" name="Google Shape;266;p25"/>
          <p:cNvSpPr txBox="1"/>
          <p:nvPr/>
        </p:nvSpPr>
        <p:spPr>
          <a:xfrm>
            <a:off x="6159100" y="3189593"/>
            <a:ext cx="5334000" cy="82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92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75" b="0" i="0" u="none" strike="noStrike" cap="non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The Order struct cleanly encapsulates the Customer's name, the Vector of CartItems, and the Total Bill, making it ready to be pushed to the pending queue.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32B"/>
        </a:solidFill>
        <a:effectLst/>
      </p:bgPr>
    </p:bg>
    <p:spTree>
      <p:nvGrpSpPr>
        <p:cNvPr id="1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1" name="Google Shape;271;p26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286500" y="1838765"/>
            <a:ext cx="5334000" cy="2620565"/>
          </a:xfrm>
          <a:prstGeom prst="rect">
            <a:avLst/>
          </a:prstGeom>
          <a:noFill/>
          <a:ln>
            <a:noFill/>
          </a:ln>
        </p:spPr>
      </p:pic>
      <p:sp>
        <p:nvSpPr>
          <p:cNvPr id="272" name="Google Shape;272;p26"/>
          <p:cNvSpPr txBox="1"/>
          <p:nvPr/>
        </p:nvSpPr>
        <p:spPr>
          <a:xfrm>
            <a:off x="571500" y="381000"/>
            <a:ext cx="11601600" cy="39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550" b="1" i="0" u="none" strike="noStrike" cap="none">
                <a:solidFill>
                  <a:srgbClr val="FFFF00"/>
                </a:solidFill>
                <a:latin typeface="Merriweather"/>
                <a:ea typeface="Merriweather"/>
                <a:cs typeface="Merriweather"/>
                <a:sym typeface="Merriweather"/>
              </a:rPr>
              <a:t>13.</a:t>
            </a:r>
            <a:r>
              <a:rPr lang="en-US" sz="2550" b="1" i="0" u="none" strike="noStrike" cap="none">
                <a:solidFill>
                  <a:srgbClr val="FFFFFF"/>
                </a:solidFill>
                <a:latin typeface="Merriweather"/>
                <a:ea typeface="Merriweather"/>
                <a:cs typeface="Merriweather"/>
                <a:sym typeface="Merriweather"/>
              </a:rPr>
              <a:t> STL: </a:t>
            </a:r>
            <a:r>
              <a:rPr lang="en-US" sz="2550" b="1" i="0" u="none" strike="noStrike" cap="none">
                <a:solidFill>
                  <a:srgbClr val="FFFF00"/>
                </a:solidFill>
                <a:latin typeface="Merriweather"/>
                <a:ea typeface="Merriweather"/>
                <a:cs typeface="Merriweather"/>
                <a:sym typeface="Merriweather"/>
              </a:rPr>
              <a:t>Vectors as Databases</a:t>
            </a:r>
            <a:endParaRPr>
              <a:solidFill>
                <a:srgbClr val="FFFF00"/>
              </a:solidFill>
            </a:endParaRPr>
          </a:p>
        </p:txBody>
      </p:sp>
      <p:sp>
        <p:nvSpPr>
          <p:cNvPr id="273" name="Google Shape;273;p26"/>
          <p:cNvSpPr/>
          <p:nvPr/>
        </p:nvSpPr>
        <p:spPr>
          <a:xfrm>
            <a:off x="571500" y="864840"/>
            <a:ext cx="11049000" cy="19050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4" name="Google Shape;274;p26"/>
          <p:cNvSpPr txBox="1"/>
          <p:nvPr/>
        </p:nvSpPr>
        <p:spPr>
          <a:xfrm>
            <a:off x="11391900" y="238125"/>
            <a:ext cx="466725" cy="19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14 / 21</a:t>
            </a:r>
            <a:endParaRPr/>
          </a:p>
        </p:txBody>
      </p:sp>
      <p:sp>
        <p:nvSpPr>
          <p:cNvPr id="275" name="Google Shape;275;p26"/>
          <p:cNvSpPr txBox="1"/>
          <p:nvPr/>
        </p:nvSpPr>
        <p:spPr>
          <a:xfrm>
            <a:off x="438150" y="1575278"/>
            <a:ext cx="5600700" cy="34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993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50" b="1" i="0" u="none" strike="noStrike" cap="none">
                <a:solidFill>
                  <a:srgbClr val="FFFF00"/>
                </a:solidFill>
                <a:latin typeface="Merriweather"/>
                <a:ea typeface="Merriweather"/>
                <a:cs typeface="Merriweather"/>
                <a:sym typeface="Merriweather"/>
              </a:rPr>
              <a:t>Dynamic Memory Allocation</a:t>
            </a:r>
            <a:endParaRPr sz="2000" b="1">
              <a:solidFill>
                <a:srgbClr val="FFFF00"/>
              </a:solidFill>
            </a:endParaRPr>
          </a:p>
        </p:txBody>
      </p:sp>
      <p:sp>
        <p:nvSpPr>
          <p:cNvPr id="276" name="Google Shape;276;p26"/>
          <p:cNvSpPr txBox="1"/>
          <p:nvPr/>
        </p:nvSpPr>
        <p:spPr>
          <a:xfrm>
            <a:off x="571500" y="2185385"/>
            <a:ext cx="5334000" cy="51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92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75" b="0" i="0" u="none" strike="noStrike" cap="non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The Store class replaces static C-arrays with std::vector containers to manage dynamic scaling securely.</a:t>
            </a:r>
            <a:endParaRPr/>
          </a:p>
        </p:txBody>
      </p:sp>
      <p:sp>
        <p:nvSpPr>
          <p:cNvPr id="277" name="Google Shape;277;p26"/>
          <p:cNvSpPr txBox="1"/>
          <p:nvPr/>
        </p:nvSpPr>
        <p:spPr>
          <a:xfrm>
            <a:off x="904875" y="2846182"/>
            <a:ext cx="5000700" cy="19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92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75" b="0" i="0" u="none" strike="noStrike" cap="non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The products and users act as our core DB.</a:t>
            </a:r>
            <a:endParaRPr/>
          </a:p>
        </p:txBody>
      </p:sp>
      <p:sp>
        <p:nvSpPr>
          <p:cNvPr id="278" name="Google Shape;278;p26"/>
          <p:cNvSpPr txBox="1"/>
          <p:nvPr/>
        </p:nvSpPr>
        <p:spPr>
          <a:xfrm>
            <a:off x="904875" y="3219443"/>
            <a:ext cx="5000700" cy="51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92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75" b="0" i="0" u="none" strike="noStrike" cap="non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The destructor safely uses a loop to delete User pointers, preventing memory leaks upon system shutdown.</a:t>
            </a:r>
            <a:endParaRPr/>
          </a:p>
        </p:txBody>
      </p:sp>
      <p:pic>
        <p:nvPicPr>
          <p:cNvPr id="279" name="Google Shape;279;p26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3252781"/>
            <a:ext cx="190500" cy="180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32B"/>
        </a:solidFill>
        <a:effectLst/>
      </p:bgPr>
    </p:bg>
    <p:spTree>
      <p:nvGrpSpPr>
        <p:cNvPr id="1" name="Shape 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4" name="Google Shape;284;p27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71500" y="2118715"/>
            <a:ext cx="5334000" cy="2620565"/>
          </a:xfrm>
          <a:prstGeom prst="rect">
            <a:avLst/>
          </a:prstGeom>
          <a:noFill/>
          <a:ln>
            <a:noFill/>
          </a:ln>
        </p:spPr>
      </p:pic>
      <p:sp>
        <p:nvSpPr>
          <p:cNvPr id="285" name="Google Shape;285;p27"/>
          <p:cNvSpPr txBox="1"/>
          <p:nvPr/>
        </p:nvSpPr>
        <p:spPr>
          <a:xfrm>
            <a:off x="571500" y="381000"/>
            <a:ext cx="11601600" cy="39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550" b="1" i="0" u="none" strike="noStrike" cap="none">
                <a:solidFill>
                  <a:srgbClr val="FFFF00"/>
                </a:solidFill>
                <a:latin typeface="Merriweather"/>
                <a:ea typeface="Merriweather"/>
                <a:cs typeface="Merriweather"/>
                <a:sym typeface="Merriweather"/>
              </a:rPr>
              <a:t>14.</a:t>
            </a:r>
            <a:r>
              <a:rPr lang="en-US" sz="2550" b="1" i="0" u="none" strike="noStrike" cap="none">
                <a:solidFill>
                  <a:srgbClr val="FFFFFF"/>
                </a:solidFill>
                <a:latin typeface="Merriweather"/>
                <a:ea typeface="Merriweather"/>
                <a:cs typeface="Merriweather"/>
                <a:sym typeface="Merriweather"/>
              </a:rPr>
              <a:t> STL Algorithms: </a:t>
            </a:r>
            <a:r>
              <a:rPr lang="en-US" sz="2550" b="1" i="0" u="none" strike="noStrike" cap="none">
                <a:solidFill>
                  <a:srgbClr val="FFFF00"/>
                </a:solidFill>
                <a:latin typeface="Merriweather"/>
                <a:ea typeface="Merriweather"/>
                <a:cs typeface="Merriweather"/>
                <a:sym typeface="Merriweather"/>
              </a:rPr>
              <a:t>Sort &amp; Lambdas</a:t>
            </a:r>
            <a:endParaRPr>
              <a:solidFill>
                <a:srgbClr val="FFFF00"/>
              </a:solidFill>
            </a:endParaRPr>
          </a:p>
        </p:txBody>
      </p:sp>
      <p:sp>
        <p:nvSpPr>
          <p:cNvPr id="286" name="Google Shape;286;p27"/>
          <p:cNvSpPr/>
          <p:nvPr/>
        </p:nvSpPr>
        <p:spPr>
          <a:xfrm>
            <a:off x="571500" y="864840"/>
            <a:ext cx="11049000" cy="19050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7" name="Google Shape;287;p27"/>
          <p:cNvSpPr txBox="1"/>
          <p:nvPr/>
        </p:nvSpPr>
        <p:spPr>
          <a:xfrm>
            <a:off x="11401425" y="238125"/>
            <a:ext cx="457200" cy="19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15 / 21</a:t>
            </a:r>
            <a:endParaRPr/>
          </a:p>
        </p:txBody>
      </p:sp>
      <p:sp>
        <p:nvSpPr>
          <p:cNvPr id="288" name="Google Shape;288;p27"/>
          <p:cNvSpPr txBox="1"/>
          <p:nvPr/>
        </p:nvSpPr>
        <p:spPr>
          <a:xfrm>
            <a:off x="6019800" y="1792653"/>
            <a:ext cx="5600700" cy="37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993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50" b="1" i="0" u="none" strike="noStrike" cap="none">
                <a:solidFill>
                  <a:srgbClr val="FFFF00"/>
                </a:solidFill>
                <a:latin typeface="Merriweather"/>
                <a:ea typeface="Merriweather"/>
                <a:cs typeface="Merriweather"/>
                <a:sym typeface="Merriweather"/>
              </a:rPr>
              <a:t>Automated Data Organization</a:t>
            </a:r>
            <a:endParaRPr sz="2200">
              <a:solidFill>
                <a:srgbClr val="FFFF00"/>
              </a:solidFill>
            </a:endParaRPr>
          </a:p>
        </p:txBody>
      </p:sp>
      <p:sp>
        <p:nvSpPr>
          <p:cNvPr id="289" name="Google Shape;289;p27"/>
          <p:cNvSpPr txBox="1"/>
          <p:nvPr/>
        </p:nvSpPr>
        <p:spPr>
          <a:xfrm>
            <a:off x="6286500" y="2465335"/>
            <a:ext cx="5334000" cy="51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92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75" b="0" i="0" u="none" strike="noStrike" cap="non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Whenever a Manager adds a new product or imports data from a file, the system immediately invokes std::sort.</a:t>
            </a:r>
            <a:endParaRPr/>
          </a:p>
        </p:txBody>
      </p:sp>
      <p:sp>
        <p:nvSpPr>
          <p:cNvPr id="290" name="Google Shape;290;p27"/>
          <p:cNvSpPr txBox="1"/>
          <p:nvPr/>
        </p:nvSpPr>
        <p:spPr>
          <a:xfrm>
            <a:off x="6286500" y="3078507"/>
            <a:ext cx="5334000" cy="82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92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75" b="0" i="0" u="none" strike="noStrike" cap="non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Combined with an inline </a:t>
            </a:r>
            <a:r>
              <a:rPr lang="en-US" sz="1275" b="1" i="0" u="none" strike="noStrike" cap="non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Lambda Expression</a:t>
            </a:r>
            <a:r>
              <a:rPr lang="en-US" sz="1275" b="0" i="0" u="none" strike="noStrike" cap="non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, it guarantees the inventory is always sorted alphabetically by ID, which is a critical prerequisite for Binary Search.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32B"/>
        </a:solidFill>
        <a:effectLst/>
      </p:bgPr>
    </p:bg>
    <p:spTree>
      <p:nvGrpSpPr>
        <p:cNvPr id="1" name="Shape 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5" name="Google Shape;295;p28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222800" y="2019240"/>
            <a:ext cx="5334000" cy="2433935"/>
          </a:xfrm>
          <a:prstGeom prst="rect">
            <a:avLst/>
          </a:prstGeom>
          <a:noFill/>
          <a:ln>
            <a:noFill/>
          </a:ln>
        </p:spPr>
      </p:pic>
      <p:sp>
        <p:nvSpPr>
          <p:cNvPr id="296" name="Google Shape;296;p28"/>
          <p:cNvSpPr txBox="1"/>
          <p:nvPr/>
        </p:nvSpPr>
        <p:spPr>
          <a:xfrm>
            <a:off x="571500" y="381000"/>
            <a:ext cx="11601600" cy="39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550" b="1" i="0" u="none" strike="noStrike" cap="none">
                <a:solidFill>
                  <a:srgbClr val="FFFF00"/>
                </a:solidFill>
                <a:latin typeface="Merriweather"/>
                <a:ea typeface="Merriweather"/>
                <a:cs typeface="Merriweather"/>
                <a:sym typeface="Merriweather"/>
              </a:rPr>
              <a:t>15.</a:t>
            </a:r>
            <a:r>
              <a:rPr lang="en-US" sz="2550" b="1" i="0" u="none" strike="noStrike" cap="none">
                <a:solidFill>
                  <a:srgbClr val="FFFFFF"/>
                </a:solidFill>
                <a:latin typeface="Merriweather"/>
                <a:ea typeface="Merriweather"/>
                <a:cs typeface="Merriweather"/>
                <a:sym typeface="Merriweather"/>
              </a:rPr>
              <a:t> Advanced Algorithms: </a:t>
            </a:r>
            <a:r>
              <a:rPr lang="en-US" sz="2550" b="1" i="0" u="none" strike="noStrike" cap="none">
                <a:solidFill>
                  <a:srgbClr val="FFFF00"/>
                </a:solidFill>
                <a:latin typeface="Merriweather"/>
                <a:ea typeface="Merriweather"/>
                <a:cs typeface="Merriweather"/>
                <a:sym typeface="Merriweather"/>
              </a:rPr>
              <a:t>Binary Search</a:t>
            </a:r>
            <a:endParaRPr>
              <a:solidFill>
                <a:srgbClr val="FFFF00"/>
              </a:solidFill>
            </a:endParaRPr>
          </a:p>
        </p:txBody>
      </p:sp>
      <p:sp>
        <p:nvSpPr>
          <p:cNvPr id="297" name="Google Shape;297;p28"/>
          <p:cNvSpPr/>
          <p:nvPr/>
        </p:nvSpPr>
        <p:spPr>
          <a:xfrm>
            <a:off x="571500" y="864840"/>
            <a:ext cx="11049000" cy="19050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8" name="Google Shape;298;p28"/>
          <p:cNvSpPr txBox="1"/>
          <p:nvPr/>
        </p:nvSpPr>
        <p:spPr>
          <a:xfrm>
            <a:off x="11040750" y="238125"/>
            <a:ext cx="8178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16 / 21</a:t>
            </a:r>
            <a:endParaRPr/>
          </a:p>
        </p:txBody>
      </p:sp>
      <p:sp>
        <p:nvSpPr>
          <p:cNvPr id="299" name="Google Shape;299;p28"/>
          <p:cNvSpPr txBox="1"/>
          <p:nvPr/>
        </p:nvSpPr>
        <p:spPr>
          <a:xfrm>
            <a:off x="507800" y="1870615"/>
            <a:ext cx="5600700" cy="3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993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50" b="1" i="0" u="none" strike="noStrike" cap="none">
                <a:solidFill>
                  <a:srgbClr val="FFFF00"/>
                </a:solidFill>
                <a:latin typeface="Merriweather"/>
                <a:ea typeface="Merriweather"/>
                <a:cs typeface="Merriweather"/>
                <a:sym typeface="Merriweather"/>
              </a:rPr>
              <a:t>O(log n) Efficiency</a:t>
            </a:r>
            <a:endParaRPr sz="1800" b="1">
              <a:solidFill>
                <a:srgbClr val="FFFF00"/>
              </a:solidFill>
            </a:endParaRPr>
          </a:p>
        </p:txBody>
      </p:sp>
      <p:sp>
        <p:nvSpPr>
          <p:cNvPr id="300" name="Google Shape;300;p28"/>
          <p:cNvSpPr txBox="1"/>
          <p:nvPr/>
        </p:nvSpPr>
        <p:spPr>
          <a:xfrm>
            <a:off x="507800" y="2365860"/>
            <a:ext cx="5334000" cy="51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92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75" b="0" i="0" u="none" strike="noStrike" cap="non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For operations requiring exact ID lookups (like verifying Cart IDs), standard for-loops are too slow for large datasets.</a:t>
            </a:r>
            <a:endParaRPr/>
          </a:p>
        </p:txBody>
      </p:sp>
      <p:sp>
        <p:nvSpPr>
          <p:cNvPr id="301" name="Google Shape;301;p28"/>
          <p:cNvSpPr txBox="1"/>
          <p:nvPr/>
        </p:nvSpPr>
        <p:spPr>
          <a:xfrm>
            <a:off x="507800" y="2979032"/>
            <a:ext cx="5334000" cy="51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92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75" b="0" i="0" u="none" strike="noStrike" cap="non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We implemented a custom </a:t>
            </a:r>
            <a:r>
              <a:rPr lang="en-US" sz="1275" b="1" i="0" u="none" strike="noStrike" cap="non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Binary Search</a:t>
            </a:r>
            <a:r>
              <a:rPr lang="en-US" sz="1275" b="0" i="0" u="none" strike="noStrike" cap="non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that divides the sorted vector repeatedly, achieving massive performance gains.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32B"/>
        </a:solidFill>
        <a:effectLst/>
      </p:bgPr>
    </p:bg>
    <p:spTree>
      <p:nvGrpSpPr>
        <p:cNvPr id="1" name="Shape 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6" name="Google Shape;306;p29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29025" y="2073103"/>
            <a:ext cx="5334000" cy="2993826"/>
          </a:xfrm>
          <a:prstGeom prst="rect">
            <a:avLst/>
          </a:prstGeom>
          <a:noFill/>
          <a:ln>
            <a:noFill/>
          </a:ln>
        </p:spPr>
      </p:pic>
      <p:sp>
        <p:nvSpPr>
          <p:cNvPr id="307" name="Google Shape;307;p29"/>
          <p:cNvSpPr txBox="1"/>
          <p:nvPr/>
        </p:nvSpPr>
        <p:spPr>
          <a:xfrm>
            <a:off x="571500" y="381000"/>
            <a:ext cx="11601600" cy="39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550" b="1" i="0" u="none" strike="noStrike" cap="none">
                <a:solidFill>
                  <a:srgbClr val="FFFF00"/>
                </a:solidFill>
                <a:latin typeface="Merriweather"/>
                <a:ea typeface="Merriweather"/>
                <a:cs typeface="Merriweather"/>
                <a:sym typeface="Merriweather"/>
              </a:rPr>
              <a:t>16.</a:t>
            </a:r>
            <a:r>
              <a:rPr lang="en-US" sz="2550" b="1" i="0" u="none" strike="noStrike" cap="none">
                <a:solidFill>
                  <a:srgbClr val="FFFFFF"/>
                </a:solidFill>
                <a:latin typeface="Merriweather"/>
                <a:ea typeface="Merriweather"/>
                <a:cs typeface="Merriweather"/>
                <a:sym typeface="Merriweather"/>
              </a:rPr>
              <a:t> Advanced </a:t>
            </a:r>
            <a:r>
              <a:rPr lang="en-US" sz="2550" b="1" i="0" u="none" strike="noStrike" cap="none">
                <a:solidFill>
                  <a:srgbClr val="FFFF00"/>
                </a:solidFill>
                <a:latin typeface="Merriweather"/>
                <a:ea typeface="Merriweather"/>
                <a:cs typeface="Merriweather"/>
                <a:sym typeface="Merriweather"/>
              </a:rPr>
              <a:t>String Manipulation</a:t>
            </a:r>
            <a:endParaRPr>
              <a:solidFill>
                <a:srgbClr val="FFFF00"/>
              </a:solidFill>
            </a:endParaRPr>
          </a:p>
        </p:txBody>
      </p:sp>
      <p:sp>
        <p:nvSpPr>
          <p:cNvPr id="308" name="Google Shape;308;p29"/>
          <p:cNvSpPr/>
          <p:nvPr/>
        </p:nvSpPr>
        <p:spPr>
          <a:xfrm>
            <a:off x="571500" y="864840"/>
            <a:ext cx="11049000" cy="19050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9" name="Google Shape;309;p29"/>
          <p:cNvSpPr txBox="1"/>
          <p:nvPr/>
        </p:nvSpPr>
        <p:spPr>
          <a:xfrm>
            <a:off x="11410950" y="238125"/>
            <a:ext cx="447675" cy="19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17 / 21</a:t>
            </a:r>
            <a:endParaRPr/>
          </a:p>
        </p:txBody>
      </p:sp>
      <p:sp>
        <p:nvSpPr>
          <p:cNvPr id="310" name="Google Shape;310;p29"/>
          <p:cNvSpPr txBox="1"/>
          <p:nvPr/>
        </p:nvSpPr>
        <p:spPr>
          <a:xfrm>
            <a:off x="6019800" y="1838740"/>
            <a:ext cx="5600700" cy="36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993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350" b="1" i="0" u="none" strike="noStrike" cap="none">
                <a:solidFill>
                  <a:srgbClr val="FFFF00"/>
                </a:solidFill>
                <a:latin typeface="Merriweather"/>
                <a:ea typeface="Merriweather"/>
                <a:cs typeface="Merriweather"/>
                <a:sym typeface="Merriweather"/>
              </a:rPr>
              <a:t>Case-Insensitive Substrings</a:t>
            </a:r>
            <a:endParaRPr sz="2100">
              <a:solidFill>
                <a:srgbClr val="FFFF00"/>
              </a:solidFill>
            </a:endParaRPr>
          </a:p>
        </p:txBody>
      </p:sp>
      <p:sp>
        <p:nvSpPr>
          <p:cNvPr id="311" name="Google Shape;311;p29"/>
          <p:cNvSpPr txBox="1"/>
          <p:nvPr/>
        </p:nvSpPr>
        <p:spPr>
          <a:xfrm>
            <a:off x="6244025" y="2419723"/>
            <a:ext cx="5334000" cy="51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92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75" b="0" i="0" u="none" strike="noStrike" cap="non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Rather than relying on strict equivalence (==) which frustrates users, we engineered an advanced search.</a:t>
            </a:r>
            <a:endParaRPr/>
          </a:p>
        </p:txBody>
      </p:sp>
      <p:sp>
        <p:nvSpPr>
          <p:cNvPr id="312" name="Google Shape;312;p29"/>
          <p:cNvSpPr txBox="1"/>
          <p:nvPr/>
        </p:nvSpPr>
        <p:spPr>
          <a:xfrm>
            <a:off x="6244025" y="3032895"/>
            <a:ext cx="5334000" cy="82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92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75" b="0" i="0" u="none" strike="noStrike" cap="non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By using std::transform with ::tolower, we convert queries to lowercase. Then, string::find with string::npos easily matches partial inputs (e.g., "beef" finds "Thit Bo").</a:t>
            </a:r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32B"/>
        </a:solidFill>
        <a:effectLst/>
      </p:bgPr>
    </p:bg>
    <p:spTree>
      <p:nvGrpSpPr>
        <p:cNvPr id="1" name="Shape 3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7" name="Google Shape;317;p30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222825" y="2114765"/>
            <a:ext cx="5334000" cy="2433935"/>
          </a:xfrm>
          <a:prstGeom prst="rect">
            <a:avLst/>
          </a:prstGeom>
          <a:noFill/>
          <a:ln>
            <a:noFill/>
          </a:ln>
        </p:spPr>
      </p:pic>
      <p:sp>
        <p:nvSpPr>
          <p:cNvPr id="318" name="Google Shape;318;p30"/>
          <p:cNvSpPr txBox="1"/>
          <p:nvPr/>
        </p:nvSpPr>
        <p:spPr>
          <a:xfrm>
            <a:off x="571500" y="381000"/>
            <a:ext cx="11601600" cy="39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550" b="1" i="0" u="none" strike="noStrike" cap="none">
                <a:solidFill>
                  <a:srgbClr val="FFFF00"/>
                </a:solidFill>
                <a:latin typeface="Merriweather"/>
                <a:ea typeface="Merriweather"/>
                <a:cs typeface="Merriweather"/>
                <a:sym typeface="Merriweather"/>
              </a:rPr>
              <a:t>17.</a:t>
            </a:r>
            <a:r>
              <a:rPr lang="en-US" sz="2550" b="1" i="0" u="none" strike="noStrike" cap="none">
                <a:solidFill>
                  <a:srgbClr val="FFFFFF"/>
                </a:solidFill>
                <a:latin typeface="Merriweather"/>
                <a:ea typeface="Merriweather"/>
                <a:cs typeface="Merriweather"/>
                <a:sym typeface="Merriweather"/>
              </a:rPr>
              <a:t> Robust </a:t>
            </a:r>
            <a:r>
              <a:rPr lang="en-US" sz="2550" b="1" i="0" u="none" strike="noStrike" cap="none">
                <a:solidFill>
                  <a:srgbClr val="FFFF00"/>
                </a:solidFill>
                <a:latin typeface="Merriweather"/>
                <a:ea typeface="Merriweather"/>
                <a:cs typeface="Merriweather"/>
                <a:sym typeface="Merriweather"/>
              </a:rPr>
              <a:t>File I/O</a:t>
            </a:r>
            <a:endParaRPr>
              <a:solidFill>
                <a:srgbClr val="FFFF00"/>
              </a:solidFill>
            </a:endParaRPr>
          </a:p>
        </p:txBody>
      </p:sp>
      <p:sp>
        <p:nvSpPr>
          <p:cNvPr id="319" name="Google Shape;319;p30"/>
          <p:cNvSpPr/>
          <p:nvPr/>
        </p:nvSpPr>
        <p:spPr>
          <a:xfrm>
            <a:off x="571500" y="864840"/>
            <a:ext cx="11049000" cy="19050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0" name="Google Shape;320;p30"/>
          <p:cNvSpPr txBox="1"/>
          <p:nvPr/>
        </p:nvSpPr>
        <p:spPr>
          <a:xfrm>
            <a:off x="11231825" y="238125"/>
            <a:ext cx="6267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18 / 21</a:t>
            </a:r>
            <a:endParaRPr/>
          </a:p>
        </p:txBody>
      </p:sp>
      <p:sp>
        <p:nvSpPr>
          <p:cNvPr id="321" name="Google Shape;321;p30"/>
          <p:cNvSpPr txBox="1"/>
          <p:nvPr/>
        </p:nvSpPr>
        <p:spPr>
          <a:xfrm>
            <a:off x="456275" y="1966165"/>
            <a:ext cx="5600700" cy="39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993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550" b="1" i="0" u="none" strike="noStrike" cap="none">
                <a:solidFill>
                  <a:srgbClr val="FFFF00"/>
                </a:solidFill>
                <a:latin typeface="Merriweather"/>
                <a:ea typeface="Merriweather"/>
                <a:cs typeface="Merriweather"/>
                <a:sym typeface="Merriweather"/>
              </a:rPr>
              <a:t>Data Persistence</a:t>
            </a:r>
            <a:endParaRPr sz="2300">
              <a:solidFill>
                <a:srgbClr val="FFFF00"/>
              </a:solidFill>
            </a:endParaRPr>
          </a:p>
        </p:txBody>
      </p:sp>
      <p:sp>
        <p:nvSpPr>
          <p:cNvPr id="322" name="Google Shape;322;p30"/>
          <p:cNvSpPr txBox="1"/>
          <p:nvPr/>
        </p:nvSpPr>
        <p:spPr>
          <a:xfrm>
            <a:off x="507825" y="2461385"/>
            <a:ext cx="5334000" cy="19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92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75" b="0" i="0" u="none" strike="noStrike" cap="non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The system utilizes  to permanently store database operations.</a:t>
            </a:r>
            <a:endParaRPr/>
          </a:p>
        </p:txBody>
      </p:sp>
      <p:sp>
        <p:nvSpPr>
          <p:cNvPr id="323" name="Google Shape;323;p30"/>
          <p:cNvSpPr txBox="1"/>
          <p:nvPr/>
        </p:nvSpPr>
        <p:spPr>
          <a:xfrm>
            <a:off x="841200" y="2863221"/>
            <a:ext cx="5000700" cy="19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92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75" b="0" i="0" u="none" strike="noStrike" cap="non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ifstream loads data from products.txt during system boot.</a:t>
            </a:r>
            <a:endParaRPr/>
          </a:p>
        </p:txBody>
      </p:sp>
      <p:sp>
        <p:nvSpPr>
          <p:cNvPr id="324" name="Google Shape;324;p30"/>
          <p:cNvSpPr txBox="1"/>
          <p:nvPr/>
        </p:nvSpPr>
        <p:spPr>
          <a:xfrm>
            <a:off x="841200" y="3236482"/>
            <a:ext cx="5000700" cy="51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92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75" b="0" i="0" u="none" strike="noStrike" cap="non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ofstream with ios::app safely appends newly created products to the file without overwriting existing data.</a:t>
            </a:r>
            <a:endParaRPr/>
          </a:p>
        </p:txBody>
      </p:sp>
      <p:pic>
        <p:nvPicPr>
          <p:cNvPr id="325" name="Google Shape;325;p30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07825" y="2896559"/>
            <a:ext cx="171450" cy="180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326" name="Google Shape;326;p30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07825" y="3269820"/>
            <a:ext cx="190500" cy="180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32B"/>
        </a:solidFill>
        <a:effectLst/>
      </p:bgPr>
    </p:bg>
    <p:spTree>
      <p:nvGrpSpPr>
        <p:cNvPr id="1" name="Shape 3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1" name="Google Shape;331;p31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38150" y="1690115"/>
            <a:ext cx="5334000" cy="3333750"/>
          </a:xfrm>
          <a:prstGeom prst="rect">
            <a:avLst/>
          </a:prstGeom>
          <a:noFill/>
          <a:ln>
            <a:noFill/>
          </a:ln>
        </p:spPr>
      </p:pic>
      <p:sp>
        <p:nvSpPr>
          <p:cNvPr id="332" name="Google Shape;332;p31"/>
          <p:cNvSpPr txBox="1"/>
          <p:nvPr/>
        </p:nvSpPr>
        <p:spPr>
          <a:xfrm>
            <a:off x="571500" y="381000"/>
            <a:ext cx="11601600" cy="39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550" b="1" i="0" u="none" strike="noStrike" cap="none">
                <a:solidFill>
                  <a:srgbClr val="FFFF00"/>
                </a:solidFill>
                <a:latin typeface="Merriweather"/>
                <a:ea typeface="Merriweather"/>
                <a:cs typeface="Merriweather"/>
                <a:sym typeface="Merriweather"/>
              </a:rPr>
              <a:t>18.</a:t>
            </a:r>
            <a:r>
              <a:rPr lang="en-US" sz="2550" b="1" i="0" u="none" strike="noStrike" cap="none">
                <a:solidFill>
                  <a:srgbClr val="FFFFFF"/>
                </a:solidFill>
                <a:latin typeface="Merriweather"/>
                <a:ea typeface="Merriweather"/>
                <a:cs typeface="Merriweather"/>
                <a:sym typeface="Merriweather"/>
              </a:rPr>
              <a:t> Order </a:t>
            </a:r>
            <a:r>
              <a:rPr lang="en-US" sz="2550" b="1" i="0" u="none" strike="noStrike" cap="none">
                <a:solidFill>
                  <a:srgbClr val="FFFF00"/>
                </a:solidFill>
                <a:latin typeface="Merriweather"/>
                <a:ea typeface="Merriweather"/>
                <a:cs typeface="Merriweather"/>
                <a:sym typeface="Merriweather"/>
              </a:rPr>
              <a:t>Approval Workflow</a:t>
            </a:r>
            <a:endParaRPr>
              <a:solidFill>
                <a:srgbClr val="FFFF00"/>
              </a:solidFill>
            </a:endParaRPr>
          </a:p>
        </p:txBody>
      </p:sp>
      <p:sp>
        <p:nvSpPr>
          <p:cNvPr id="333" name="Google Shape;333;p31"/>
          <p:cNvSpPr/>
          <p:nvPr/>
        </p:nvSpPr>
        <p:spPr>
          <a:xfrm>
            <a:off x="571500" y="864840"/>
            <a:ext cx="11049000" cy="19050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4" name="Google Shape;334;p31"/>
          <p:cNvSpPr txBox="1"/>
          <p:nvPr/>
        </p:nvSpPr>
        <p:spPr>
          <a:xfrm>
            <a:off x="11210600" y="307875"/>
            <a:ext cx="648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19 / 21</a:t>
            </a:r>
            <a:endParaRPr/>
          </a:p>
        </p:txBody>
      </p:sp>
      <p:pic>
        <p:nvPicPr>
          <p:cNvPr id="335" name="Google Shape;335;p31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57200" y="1709165"/>
            <a:ext cx="5295900" cy="3295650"/>
          </a:xfrm>
          <a:prstGeom prst="rect">
            <a:avLst/>
          </a:prstGeom>
          <a:noFill/>
          <a:ln>
            <a:noFill/>
          </a:ln>
        </p:spPr>
      </p:pic>
      <p:sp>
        <p:nvSpPr>
          <p:cNvPr id="336" name="Google Shape;336;p31"/>
          <p:cNvSpPr txBox="1"/>
          <p:nvPr/>
        </p:nvSpPr>
        <p:spPr>
          <a:xfrm>
            <a:off x="6019800" y="1456565"/>
            <a:ext cx="5600700" cy="37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993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50" b="1" i="0" u="none" strike="noStrike" cap="none">
                <a:solidFill>
                  <a:srgbClr val="FFFF00"/>
                </a:solidFill>
                <a:latin typeface="Merriweather"/>
                <a:ea typeface="Merriweather"/>
                <a:cs typeface="Merriweather"/>
                <a:sym typeface="Merriweather"/>
              </a:rPr>
              <a:t>Bridging Customer &amp; Staff</a:t>
            </a:r>
            <a:endParaRPr sz="2200">
              <a:solidFill>
                <a:srgbClr val="FFFF00"/>
              </a:solidFill>
            </a:endParaRPr>
          </a:p>
        </p:txBody>
      </p:sp>
      <p:sp>
        <p:nvSpPr>
          <p:cNvPr id="337" name="Google Shape;337;p31"/>
          <p:cNvSpPr txBox="1"/>
          <p:nvPr/>
        </p:nvSpPr>
        <p:spPr>
          <a:xfrm>
            <a:off x="6153150" y="2142885"/>
            <a:ext cx="5334000" cy="51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92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75" b="0" i="0" u="none" strike="noStrike" cap="non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When a Customer checkouts, the transaction is </a:t>
            </a:r>
            <a:r>
              <a:rPr lang="en-US" sz="1275" b="1" i="0" u="none" strike="noStrike" cap="non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not finalized immediately</a:t>
            </a:r>
            <a:r>
              <a:rPr lang="en-US" sz="1275" b="0" i="0" u="none" strike="noStrike" cap="non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. It enters the pendingOrders vector.</a:t>
            </a:r>
            <a:endParaRPr/>
          </a:p>
        </p:txBody>
      </p:sp>
      <p:sp>
        <p:nvSpPr>
          <p:cNvPr id="338" name="Google Shape;338;p31"/>
          <p:cNvSpPr txBox="1"/>
          <p:nvPr/>
        </p:nvSpPr>
        <p:spPr>
          <a:xfrm>
            <a:off x="6153150" y="2861632"/>
            <a:ext cx="5334000" cy="113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92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75" b="0" i="0" u="none" strike="noStrike" cap="non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The Staff member must access Menu Option 2 to review the order. The system loops through the CartItems, re-verifying the inventory via Binary Search before allowing the Staff to approve (deducting stock) or cancel.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32B"/>
        </a:solidFill>
        <a:effectLst/>
      </p:bgPr>
    </p:bg>
    <p:spTree>
      <p:nvGrpSpPr>
        <p:cNvPr id="1" name="Shape 3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3" name="Google Shape;343;p32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80400" y="2491978"/>
            <a:ext cx="5334000" cy="1874043"/>
          </a:xfrm>
          <a:prstGeom prst="rect">
            <a:avLst/>
          </a:prstGeom>
          <a:noFill/>
          <a:ln>
            <a:noFill/>
          </a:ln>
        </p:spPr>
      </p:pic>
      <p:sp>
        <p:nvSpPr>
          <p:cNvPr id="344" name="Google Shape;344;p32"/>
          <p:cNvSpPr txBox="1"/>
          <p:nvPr/>
        </p:nvSpPr>
        <p:spPr>
          <a:xfrm>
            <a:off x="571500" y="381000"/>
            <a:ext cx="11601600" cy="39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550" b="1" i="0" u="none" strike="noStrike" cap="none">
                <a:solidFill>
                  <a:srgbClr val="FFFF00"/>
                </a:solidFill>
                <a:latin typeface="Merriweather"/>
                <a:ea typeface="Merriweather"/>
                <a:cs typeface="Merriweather"/>
                <a:sym typeface="Merriweather"/>
              </a:rPr>
              <a:t>19.</a:t>
            </a:r>
            <a:r>
              <a:rPr lang="en-US" sz="2550" b="1" i="0" u="none" strike="noStrike" cap="none">
                <a:solidFill>
                  <a:srgbClr val="FFFFFF"/>
                </a:solidFill>
                <a:latin typeface="Merriweather"/>
                <a:ea typeface="Merriweather"/>
                <a:cs typeface="Merriweather"/>
                <a:sym typeface="Merriweather"/>
              </a:rPr>
              <a:t> </a:t>
            </a:r>
            <a:r>
              <a:rPr lang="en-US" sz="2550" b="1" i="0" u="none" strike="noStrike" cap="none">
                <a:solidFill>
                  <a:srgbClr val="FFFF00"/>
                </a:solidFill>
                <a:latin typeface="Merriweather"/>
                <a:ea typeface="Merriweather"/>
                <a:cs typeface="Merriweather"/>
                <a:sym typeface="Merriweather"/>
              </a:rPr>
              <a:t>Notifications</a:t>
            </a:r>
            <a:r>
              <a:rPr lang="en-US" sz="2550" b="1" i="0" u="none" strike="noStrike" cap="none">
                <a:solidFill>
                  <a:srgbClr val="FFFFFF"/>
                </a:solidFill>
                <a:latin typeface="Merriweather"/>
                <a:ea typeface="Merriweather"/>
                <a:cs typeface="Merriweather"/>
                <a:sym typeface="Merriweather"/>
              </a:rPr>
              <a:t> &amp; </a:t>
            </a:r>
            <a:r>
              <a:rPr lang="en-US" sz="2550" b="1" i="0" u="none" strike="noStrike" cap="none">
                <a:solidFill>
                  <a:srgbClr val="FFFF00"/>
                </a:solidFill>
                <a:latin typeface="Merriweather"/>
                <a:ea typeface="Merriweather"/>
                <a:cs typeface="Merriweather"/>
                <a:sym typeface="Merriweather"/>
              </a:rPr>
              <a:t>Audit Logs</a:t>
            </a:r>
            <a:endParaRPr>
              <a:solidFill>
                <a:srgbClr val="FFFF00"/>
              </a:solidFill>
            </a:endParaRPr>
          </a:p>
        </p:txBody>
      </p:sp>
      <p:sp>
        <p:nvSpPr>
          <p:cNvPr id="345" name="Google Shape;345;p32"/>
          <p:cNvSpPr/>
          <p:nvPr/>
        </p:nvSpPr>
        <p:spPr>
          <a:xfrm>
            <a:off x="571500" y="864840"/>
            <a:ext cx="11049000" cy="19050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6" name="Google Shape;346;p32"/>
          <p:cNvSpPr txBox="1"/>
          <p:nvPr/>
        </p:nvSpPr>
        <p:spPr>
          <a:xfrm>
            <a:off x="11363325" y="238125"/>
            <a:ext cx="495300" cy="19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20 / 21</a:t>
            </a:r>
            <a:endParaRPr/>
          </a:p>
        </p:txBody>
      </p:sp>
      <p:sp>
        <p:nvSpPr>
          <p:cNvPr id="347" name="Google Shape;347;p32"/>
          <p:cNvSpPr txBox="1"/>
          <p:nvPr/>
        </p:nvSpPr>
        <p:spPr>
          <a:xfrm>
            <a:off x="5883075" y="2300903"/>
            <a:ext cx="5600700" cy="34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993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50" b="1" i="0" u="none" strike="noStrike" cap="none">
                <a:solidFill>
                  <a:srgbClr val="FFFF00"/>
                </a:solidFill>
                <a:latin typeface="Merriweather"/>
                <a:ea typeface="Merriweather"/>
                <a:cs typeface="Merriweather"/>
                <a:sym typeface="Merriweather"/>
              </a:rPr>
              <a:t>Security &amp; UX Integration</a:t>
            </a:r>
            <a:endParaRPr sz="2000">
              <a:solidFill>
                <a:srgbClr val="FFFF00"/>
              </a:solidFill>
            </a:endParaRPr>
          </a:p>
        </p:txBody>
      </p:sp>
      <p:sp>
        <p:nvSpPr>
          <p:cNvPr id="348" name="Google Shape;348;p32"/>
          <p:cNvSpPr txBox="1"/>
          <p:nvPr/>
        </p:nvSpPr>
        <p:spPr>
          <a:xfrm>
            <a:off x="6095400" y="2838598"/>
            <a:ext cx="5334000" cy="82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92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75" b="1" i="0" u="none" strike="noStrike" cap="non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Audit Logs:</a:t>
            </a:r>
            <a:r>
              <a:rPr lang="en-US" sz="1275" b="0" i="0" u="none" strike="noStrike" cap="non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Whenever a Manager imports products or Staff approves an order, addLog() captures the Action. Monitored exclusively by the Boss.</a:t>
            </a:r>
            <a:endParaRPr/>
          </a:p>
        </p:txBody>
      </p:sp>
      <p:sp>
        <p:nvSpPr>
          <p:cNvPr id="349" name="Google Shape;349;p32"/>
          <p:cNvSpPr txBox="1"/>
          <p:nvPr/>
        </p:nvSpPr>
        <p:spPr>
          <a:xfrm>
            <a:off x="6095400" y="3710731"/>
            <a:ext cx="5334000" cy="51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92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75" b="1" i="0" u="none" strike="noStrike" cap="non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Notifications:</a:t>
            </a:r>
            <a:r>
              <a:rPr lang="en-US" sz="1275" b="0" i="0" u="none" strike="noStrike" cap="non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The notifyUser() method pushes a message to the specific Customer, alerting them immediately about order statuses.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32B"/>
        </a:solidFill>
        <a:effectLst/>
      </p:bgPr>
    </p:bg>
    <p:spTree>
      <p:nvGrpSpPr>
        <p:cNvPr id="1" name="Shape 3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4" name="Google Shape;354;p33"/>
          <p:cNvSpPr txBox="1"/>
          <p:nvPr/>
        </p:nvSpPr>
        <p:spPr>
          <a:xfrm>
            <a:off x="295275" y="476250"/>
            <a:ext cx="11601600" cy="92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0" b="1" i="0" u="none" strike="noStrike" cap="none">
                <a:solidFill>
                  <a:srgbClr val="FFD700"/>
                </a:solidFill>
                <a:latin typeface="Merriweather"/>
                <a:ea typeface="Merriweather"/>
                <a:cs typeface="Merriweather"/>
                <a:sym typeface="Merriweather"/>
              </a:rPr>
              <a:t>Live Demo &amp; Q&amp;A</a:t>
            </a:r>
            <a:endParaRPr/>
          </a:p>
        </p:txBody>
      </p:sp>
      <p:sp>
        <p:nvSpPr>
          <p:cNvPr id="355" name="Google Shape;355;p33"/>
          <p:cNvSpPr txBox="1"/>
          <p:nvPr/>
        </p:nvSpPr>
        <p:spPr>
          <a:xfrm>
            <a:off x="571500" y="1581150"/>
            <a:ext cx="11049000" cy="30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50" b="0" i="0" u="none" strike="noStrike" cap="non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Transitioning to the Console to execute the live software.</a:t>
            </a:r>
            <a:endParaRPr/>
          </a:p>
        </p:txBody>
      </p:sp>
      <p:sp>
        <p:nvSpPr>
          <p:cNvPr id="356" name="Google Shape;356;p33"/>
          <p:cNvSpPr/>
          <p:nvPr/>
        </p:nvSpPr>
        <p:spPr>
          <a:xfrm>
            <a:off x="4905375" y="2358330"/>
            <a:ext cx="2381400" cy="28500"/>
          </a:xfrm>
          <a:prstGeom prst="rect">
            <a:avLst/>
          </a:prstGeom>
          <a:solidFill>
            <a:srgbClr val="64FFD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7" name="Google Shape;357;p33"/>
          <p:cNvSpPr txBox="1"/>
          <p:nvPr/>
        </p:nvSpPr>
        <p:spPr>
          <a:xfrm>
            <a:off x="571575" y="6080130"/>
            <a:ext cx="110490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64FFDA"/>
                </a:solidFill>
                <a:latin typeface="Times"/>
                <a:ea typeface="Times"/>
                <a:cs typeface="Times"/>
                <a:sym typeface="Times"/>
              </a:rPr>
              <a:t>Thank you </a:t>
            </a:r>
            <a:r>
              <a:rPr lang="en-US" sz="1800">
                <a:solidFill>
                  <a:srgbClr val="64FFDA"/>
                </a:solidFill>
                <a:latin typeface="Times"/>
                <a:ea typeface="Times"/>
                <a:cs typeface="Times"/>
                <a:sym typeface="Times"/>
              </a:rPr>
              <a:t>!</a:t>
            </a:r>
            <a:endParaRPr/>
          </a:p>
        </p:txBody>
      </p:sp>
      <p:pic>
        <p:nvPicPr>
          <p:cNvPr id="358" name="Google Shape;358;p3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439400" y="3750678"/>
            <a:ext cx="1313200" cy="1313200"/>
          </a:xfrm>
          <a:prstGeom prst="rect">
            <a:avLst/>
          </a:prstGeom>
          <a:noFill/>
          <a:ln>
            <a:noFill/>
          </a:ln>
        </p:spPr>
      </p:pic>
      <p:sp>
        <p:nvSpPr>
          <p:cNvPr id="359" name="Google Shape;359;p33"/>
          <p:cNvSpPr txBox="1"/>
          <p:nvPr/>
        </p:nvSpPr>
        <p:spPr>
          <a:xfrm>
            <a:off x="11363325" y="238125"/>
            <a:ext cx="4953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2</a:t>
            </a:r>
            <a:r>
              <a:rPr lang="en-US" sz="1200" b="1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1</a:t>
            </a:r>
            <a:r>
              <a:rPr lang="en-US" sz="1200" b="1" i="0" u="none" strike="noStrike" cap="non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 / 21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78</TotalTime>
  <Words>1197</Words>
  <Application>Microsoft Office PowerPoint</Application>
  <PresentationFormat>Widescreen</PresentationFormat>
  <Paragraphs>134</Paragraphs>
  <Slides>21</Slides>
  <Notes>21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9" baseType="lpstr">
      <vt:lpstr>Calibri</vt:lpstr>
      <vt:lpstr>Merriweather</vt:lpstr>
      <vt:lpstr>DM Sans</vt:lpstr>
      <vt:lpstr>Times</vt:lpstr>
      <vt:lpstr>Inter</vt:lpstr>
      <vt:lpstr>Arial</vt:lpstr>
      <vt:lpstr>Merriweather Black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Thinh10 Thinh10</cp:lastModifiedBy>
  <cp:revision>3</cp:revision>
  <dcterms:modified xsi:type="dcterms:W3CDTF">2026-03-31T05:17:58Z</dcterms:modified>
</cp:coreProperties>
</file>